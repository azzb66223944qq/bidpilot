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开场30秒：一句话定位——工程机械经销商的投标AI助手。强调右边评分环是产品真实界面元素。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痛点讲完立刻抛转折句：这些坑，机器比人记得牢。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强调'一个字都不编'——引出下一页反幻觉设计。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指着速览卡说：这些数字全部从公告原文自动提取，不是手填。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这是答辩防守核心页：评委问'和ChatGPT有什么区别'就翻这页。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左边四张卡按顺序讲，落到右边截图的★与单位换算两处细节。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这页讲'敢说不'：输出红条+15分的组合，评委立刻理解★规则的分量。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强调数字是示例口径，答辩时展示测算框架而非编造精确数。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定价是示例区间，答辩话术：先验证续费率，再锁价。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承认大模型能力强，但强调投标场景的第一约束是'不能编'。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进度页诚实：已完成的是可用产品，未完成的是试点——正是参赛要拿资源去做的事。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收尾回到第一句话，形成闭环。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3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第十五届中国创新创业大赛「AI+工程机械」专业赛 · AI+运营方向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1600200"/>
            <a:ext cx="7498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EEF3F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标书快反</a:t>
            </a:r>
            <a:endParaRPr lang="en-US" sz="6000" dirty="0"/>
          </a:p>
        </p:txBody>
      </p:sp>
      <p:sp>
        <p:nvSpPr>
          <p:cNvPr id="4" name="Text 2"/>
          <p:cNvSpPr/>
          <p:nvPr/>
        </p:nvSpPr>
        <p:spPr>
          <a:xfrm>
            <a:off x="548640" y="2697480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4F8C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BidPilot</a:t>
            </a:r>
            <a:pPr indent="0" marL="0">
              <a:buNone/>
            </a:pPr>
            <a:r>
              <a:rPr lang="en-US" sz="2600" dirty="0">
                <a:solidFill>
                  <a:srgbClr val="93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·  工程机械投标文件 AI 智能体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361188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EEF3F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把投标标书处理从 2–3 天压缩到 10 秒：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93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资格自查 · 技术偏离表 · 废标风险 TOP5 · 就绪度评分，一次生成。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4709160"/>
            <a:ext cx="1828800" cy="457200"/>
          </a:xfrm>
          <a:prstGeom prst="roundRect">
            <a:avLst>
              <a:gd name="adj" fmla="val 50000"/>
            </a:avLst>
          </a:prstGeom>
          <a:solidFill>
            <a:srgbClr val="141E30"/>
          </a:solidFill>
          <a:ln w="12700">
            <a:solidFill>
              <a:srgbClr val="4F8C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470916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7E0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反幻觉引擎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2578608" y="4709160"/>
            <a:ext cx="1828800" cy="457200"/>
          </a:xfrm>
          <a:prstGeom prst="roundRect">
            <a:avLst>
              <a:gd name="adj" fmla="val 50000"/>
            </a:avLst>
          </a:prstGeom>
          <a:solidFill>
            <a:srgbClr val="141E30"/>
          </a:solidFill>
          <a:ln w="12700">
            <a:solidFill>
              <a:srgbClr val="4F8C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578608" y="470916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7E0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双引擎架构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608576" y="4709160"/>
            <a:ext cx="1828800" cy="457200"/>
          </a:xfrm>
          <a:prstGeom prst="roundRect">
            <a:avLst>
              <a:gd name="adj" fmla="val 50000"/>
            </a:avLst>
          </a:prstGeom>
          <a:solidFill>
            <a:srgbClr val="141E30"/>
          </a:solidFill>
          <a:ln w="12700">
            <a:solidFill>
              <a:srgbClr val="4F8C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08576" y="470916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7E0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98 项自动化测试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638544" y="4709160"/>
            <a:ext cx="1828800" cy="457200"/>
          </a:xfrm>
          <a:prstGeom prst="roundRect">
            <a:avLst>
              <a:gd name="adj" fmla="val 50000"/>
            </a:avLst>
          </a:prstGeom>
          <a:solidFill>
            <a:srgbClr val="141E30"/>
          </a:solidFill>
          <a:ln w="12700">
            <a:solidFill>
              <a:srgbClr val="4F8C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638544" y="470916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7E0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32类参数 · 7大机型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668512" y="4709160"/>
            <a:ext cx="1828800" cy="457200"/>
          </a:xfrm>
          <a:prstGeom prst="roundRect">
            <a:avLst>
              <a:gd name="adj" fmla="val 50000"/>
            </a:avLst>
          </a:prstGeom>
          <a:solidFill>
            <a:srgbClr val="141E30"/>
          </a:solidFill>
          <a:ln w="12700">
            <a:solidFill>
              <a:srgbClr val="4F8C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668512" y="470916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7E0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v1.7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8549640" y="1554480"/>
            <a:ext cx="2834640" cy="2834640"/>
          </a:xfrm>
          <a:prstGeom prst="ellipse">
            <a:avLst/>
          </a:prstGeom>
          <a:solidFill>
            <a:srgbClr val="0B1220"/>
          </a:solidFill>
          <a:ln w="127000">
            <a:solidFill>
              <a:srgbClr val="2A3A5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49640" y="1554480"/>
            <a:ext cx="2834640" cy="2834640"/>
          </a:xfrm>
          <a:prstGeom prst="ellipse">
            <a:avLst/>
          </a:prstGeom>
          <a:solidFill>
            <a:srgbClr val="0B1220">
              <a:alpha val="0"/>
            </a:srgbClr>
          </a:solidFill>
          <a:ln w="127000">
            <a:solidFill>
              <a:srgbClr val="37E0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549640" y="233172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2FE0A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94</a:t>
            </a:r>
            <a:endParaRPr lang="en-US" sz="5400" dirty="0"/>
          </a:p>
        </p:txBody>
      </p:sp>
      <p:sp>
        <p:nvSpPr>
          <p:cNvPr id="19" name="Text 17"/>
          <p:cNvSpPr/>
          <p:nvPr/>
        </p:nvSpPr>
        <p:spPr>
          <a:xfrm>
            <a:off x="8549640" y="324612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3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演示场景就绪度评分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48640" y="6291072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719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内置演示数据均为虚构 · 正式投标必须人工逐条复核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37E0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PAIN POINTS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91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EF3F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工程机械投标的三重痛点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18311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719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691640"/>
            <a:ext cx="3291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0" b="1" dirty="0">
                <a:solidFill>
                  <a:srgbClr val="37E0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2–3</a:t>
            </a:r>
            <a:endParaRPr lang="en-US" sz="8800" dirty="0"/>
          </a:p>
        </p:txBody>
      </p:sp>
      <p:sp>
        <p:nvSpPr>
          <p:cNvPr id="6" name="Text 4"/>
          <p:cNvSpPr/>
          <p:nvPr/>
        </p:nvSpPr>
        <p:spPr>
          <a:xfrm>
            <a:off x="3063240" y="260604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7E0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天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548640" y="3200400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3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一次投标，人工读公告、做偏离表、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93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查废标条款的典型耗时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4572000"/>
            <a:ext cx="3749040" cy="1371600"/>
          </a:xfrm>
          <a:prstGeom prst="roundRect">
            <a:avLst>
              <a:gd name="adj" fmla="val 6000"/>
            </a:avLst>
          </a:prstGeom>
          <a:solidFill>
            <a:srgbClr val="141E30"/>
          </a:solidFill>
          <a:ln w="12700">
            <a:solidFill>
              <a:srgbClr val="2A3A5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4800600"/>
            <a:ext cx="3383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93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而漏看一条的代价：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FF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保证金没收 + 订单旁落 + 信用受损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846320" y="1691640"/>
            <a:ext cx="6766560" cy="1261872"/>
          </a:xfrm>
          <a:prstGeom prst="roundRect">
            <a:avLst>
              <a:gd name="adj" fmla="val 6522"/>
            </a:avLst>
          </a:prstGeom>
          <a:solidFill>
            <a:srgbClr val="141E30"/>
          </a:solidFill>
          <a:ln w="12700">
            <a:solidFill>
              <a:srgbClr val="2A3A5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38928" y="2084832"/>
            <a:ext cx="475488" cy="475488"/>
          </a:xfrm>
          <a:prstGeom prst="roundRect">
            <a:avLst>
              <a:gd name="adj" fmla="val 15385"/>
            </a:avLst>
          </a:prstGeom>
          <a:solidFill>
            <a:srgbClr val="4F8CFF"/>
          </a:solidFill>
          <a:ln/>
        </p:spPr>
      </p:sp>
      <p:sp>
        <p:nvSpPr>
          <p:cNvPr id="12" name="Text 10"/>
          <p:cNvSpPr/>
          <p:nvPr/>
        </p:nvSpPr>
        <p:spPr>
          <a:xfrm>
            <a:off x="5138928" y="20848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5852160" y="1892808"/>
            <a:ext cx="5486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EF3F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规则复杂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5852160" y="2295144"/>
            <a:ext cx="5532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3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16类技术参数、★关键条款、解密时限、保证金账户规则——漏一条即出局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846320" y="3172968"/>
            <a:ext cx="6766560" cy="1261872"/>
          </a:xfrm>
          <a:prstGeom prst="roundRect">
            <a:avLst>
              <a:gd name="adj" fmla="val 6522"/>
            </a:avLst>
          </a:prstGeom>
          <a:solidFill>
            <a:srgbClr val="141E30"/>
          </a:solidFill>
          <a:ln w="12700">
            <a:solidFill>
              <a:srgbClr val="2A3A5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138928" y="3566160"/>
            <a:ext cx="475488" cy="475488"/>
          </a:xfrm>
          <a:prstGeom prst="roundRect">
            <a:avLst>
              <a:gd name="adj" fmla="val 15385"/>
            </a:avLst>
          </a:prstGeom>
          <a:solidFill>
            <a:srgbClr val="FF6B6B"/>
          </a:solidFill>
          <a:ln/>
        </p:spPr>
      </p:sp>
      <p:sp>
        <p:nvSpPr>
          <p:cNvPr id="17" name="Text 15"/>
          <p:cNvSpPr/>
          <p:nvPr/>
        </p:nvSpPr>
        <p:spPr>
          <a:xfrm>
            <a:off x="5138928" y="356616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5852160" y="3374136"/>
            <a:ext cx="5486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EF3F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废标频发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5852160" y="3776472"/>
            <a:ext cx="5532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3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★参数不满足、授权书漏盖章、保证金晚到账：每一项都是一票否决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846320" y="4654296"/>
            <a:ext cx="6766560" cy="1261872"/>
          </a:xfrm>
          <a:prstGeom prst="roundRect">
            <a:avLst>
              <a:gd name="adj" fmla="val 6522"/>
            </a:avLst>
          </a:prstGeom>
          <a:solidFill>
            <a:srgbClr val="141E30"/>
          </a:solidFill>
          <a:ln w="12700">
            <a:solidFill>
              <a:srgbClr val="2A3A5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138928" y="5047488"/>
            <a:ext cx="475488" cy="475488"/>
          </a:xfrm>
          <a:prstGeom prst="roundRect">
            <a:avLst>
              <a:gd name="adj" fmla="val 15385"/>
            </a:avLst>
          </a:prstGeom>
          <a:solidFill>
            <a:srgbClr val="4F8CFF"/>
          </a:solidFill>
          <a:ln/>
        </p:spPr>
      </p:sp>
      <p:sp>
        <p:nvSpPr>
          <p:cNvPr id="22" name="Text 20"/>
          <p:cNvSpPr/>
          <p:nvPr/>
        </p:nvSpPr>
        <p:spPr>
          <a:xfrm>
            <a:off x="5138928" y="504748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5852160" y="4855464"/>
            <a:ext cx="5486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EF3F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经验难传承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5852160" y="5257800"/>
            <a:ext cx="5532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3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老师傅的避坑清单存在脑子里，新人每次都要重交学费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719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注：耗时为行业访谈估计（示例数据，参赛前以调研数据替换）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37E0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SOLUTION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91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EF3F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 秒生成四份投标必备成果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18311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719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554480"/>
            <a:ext cx="4206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strike="sngStrike" dirty="0">
                <a:solidFill>
                  <a:srgbClr val="93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2–3 天</a:t>
            </a:r>
            <a:pPr indent="0" marL="0">
              <a:buNone/>
            </a:pPr>
            <a:r>
              <a:rPr lang="en-US" sz="3000" dirty="0">
                <a:solidFill>
                  <a:srgbClr val="5F719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→  </a:t>
            </a:r>
            <a:pPr indent="0" marL="0">
              <a:buNone/>
            </a:pPr>
            <a:r>
              <a:rPr lang="en-US" sz="4400" b="1" dirty="0">
                <a:solidFill>
                  <a:srgbClr val="37E0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 秒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48640" y="2514600"/>
            <a:ext cx="4023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3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贴入资料库与招标公告，四份成果一次成型；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93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资料库里没有的信息，一个字都不编。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48640" y="3794760"/>
            <a:ext cx="4023360" cy="2011680"/>
          </a:xfrm>
          <a:prstGeom prst="roundRect">
            <a:avLst>
              <a:gd name="adj" fmla="val 4091"/>
            </a:avLst>
          </a:prstGeom>
          <a:solidFill>
            <a:srgbClr val="141E30"/>
          </a:solidFill>
          <a:ln w="12700">
            <a:solidFill>
              <a:srgbClr val="2A3A5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" y="397764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200" kern="0" dirty="0">
                <a:solidFill>
                  <a:srgbClr val="37E0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四大输出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77240" y="4315968"/>
            <a:ext cx="3657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EEF3F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资格自查 · 能投/缺什么/待核实</a:t>
            </a:r>
            <a:endParaRPr lang="en-US" sz="13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EEF3F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技术偏离表 · 逐条满足/正/负偏离</a:t>
            </a:r>
            <a:endParaRPr lang="en-US" sz="13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EEF3F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废标风险 TOP5 · 白话避坑提醒</a:t>
            </a:r>
            <a:endParaRPr lang="en-US" sz="13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EEF3F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结论与评分 · 就绪度 0–100 + 前提清单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029200" y="1554480"/>
            <a:ext cx="6583680" cy="960120"/>
          </a:xfrm>
          <a:prstGeom prst="roundRect">
            <a:avLst>
              <a:gd name="adj" fmla="val 8571"/>
            </a:avLst>
          </a:prstGeom>
          <a:solidFill>
            <a:srgbClr val="141E30"/>
          </a:solidFill>
          <a:ln w="12700">
            <a:solidFill>
              <a:srgbClr val="2A3A5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285232" y="1682496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F8C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285232" y="2011680"/>
            <a:ext cx="6126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本公司资料库（资质/业绩/设备参数） + 招标公告整段粘贴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10058400" y="2514600"/>
            <a:ext cx="0" cy="173736"/>
          </a:xfrm>
          <a:prstGeom prst="line">
            <a:avLst/>
          </a:prstGeom>
          <a:noFill/>
          <a:ln w="19050">
            <a:solidFill>
              <a:srgbClr val="5F7195"/>
            </a:solidFill>
            <a:prstDash val="dash"/>
          </a:ln>
        </p:spPr>
      </p:sp>
      <p:sp>
        <p:nvSpPr>
          <p:cNvPr id="14" name="Shape 12"/>
          <p:cNvSpPr/>
          <p:nvPr/>
        </p:nvSpPr>
        <p:spPr>
          <a:xfrm>
            <a:off x="5029200" y="2688336"/>
            <a:ext cx="6583680" cy="960120"/>
          </a:xfrm>
          <a:prstGeom prst="roundRect">
            <a:avLst>
              <a:gd name="adj" fmla="val 8571"/>
            </a:avLst>
          </a:prstGeom>
          <a:solidFill>
            <a:srgbClr val="141E30"/>
          </a:solidFill>
          <a:ln w="12700">
            <a:solidFill>
              <a:srgbClr val="2A3A5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285232" y="2816352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F8C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5285232" y="3145536"/>
            <a:ext cx="6126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16类参数提取 · 单位自动换算 · ★关键参数段级定位 · 元信息提取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10058400" y="3648456"/>
            <a:ext cx="0" cy="173736"/>
          </a:xfrm>
          <a:prstGeom prst="line">
            <a:avLst/>
          </a:prstGeom>
          <a:noFill/>
          <a:ln w="19050">
            <a:solidFill>
              <a:srgbClr val="5F7195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5029200" y="3822192"/>
            <a:ext cx="6583680" cy="960120"/>
          </a:xfrm>
          <a:prstGeom prst="roundRect">
            <a:avLst>
              <a:gd name="adj" fmla="val 8571"/>
            </a:avLst>
          </a:prstGeom>
          <a:solidFill>
            <a:srgbClr val="141E30"/>
          </a:solidFill>
          <a:ln w="12700">
            <a:solidFill>
              <a:srgbClr val="2A3A5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285232" y="3950208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F8C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判定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5285232" y="4279392"/>
            <a:ext cx="6126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满足/正偏离/负偏离 · 上下限语义区分 · 跨口径冲突不瞎换算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10058400" y="4782312"/>
            <a:ext cx="0" cy="173736"/>
          </a:xfrm>
          <a:prstGeom prst="line">
            <a:avLst/>
          </a:prstGeom>
          <a:noFill/>
          <a:ln w="19050">
            <a:solidFill>
              <a:srgbClr val="5F7195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5029200" y="4956048"/>
            <a:ext cx="6583680" cy="960120"/>
          </a:xfrm>
          <a:prstGeom prst="roundRect">
            <a:avLst>
              <a:gd name="adj" fmla="val 8571"/>
            </a:avLst>
          </a:prstGeom>
          <a:solidFill>
            <a:srgbClr val="141E30"/>
          </a:solidFill>
          <a:ln w="12700">
            <a:solidFill>
              <a:srgbClr val="2A3A5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285232" y="5084064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F8C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交付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5285232" y="5413248"/>
            <a:ext cx="6126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报告导出（MD/HTML/PDF）· 一键补料清单 · 公告变更对比（澄清/补遗diff）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37E0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PRODUCT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91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EF3F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产品实拍 · 资格自查与行动时间表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18311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719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93776" y="1426464"/>
            <a:ext cx="6949440" cy="3986784"/>
          </a:xfrm>
          <a:prstGeom prst="roundRect">
            <a:avLst>
              <a:gd name="adj" fmla="val 2064"/>
            </a:avLst>
          </a:prstGeom>
          <a:solidFill>
            <a:srgbClr val="141E30"/>
          </a:solidFill>
          <a:ln w="12700">
            <a:solidFill>
              <a:srgbClr val="2A3A58"/>
            </a:solidFill>
            <a:prstDash val="solid"/>
          </a:ln>
        </p:spPr>
      </p:sp>
      <p:pic>
        <p:nvPicPr>
          <p:cNvPr id="6" name="Image 0" descr="docs/screenshots/1-qual-lo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481328"/>
            <a:ext cx="6583680" cy="37033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48640" y="5468112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719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资格自查页（v1.4 实拍）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7635240" y="1554480"/>
            <a:ext cx="4023360" cy="1207008"/>
          </a:xfrm>
          <a:prstGeom prst="roundRect">
            <a:avLst>
              <a:gd name="adj" fmla="val 6818"/>
            </a:avLst>
          </a:prstGeom>
          <a:solidFill>
            <a:srgbClr val="141E30"/>
          </a:solidFill>
          <a:ln w="12700">
            <a:solidFill>
              <a:srgbClr val="2A3A58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82128" y="1719072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7E0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 张速览卡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7882128" y="2103120"/>
            <a:ext cx="3566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3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限价 / 保证金 / 解密时限 / 报名与开标时间 / 审查方式，一屏速览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7635240" y="2971800"/>
            <a:ext cx="4023360" cy="1207008"/>
          </a:xfrm>
          <a:prstGeom prst="roundRect">
            <a:avLst>
              <a:gd name="adj" fmla="val 6818"/>
            </a:avLst>
          </a:prstGeom>
          <a:solidFill>
            <a:srgbClr val="141E30"/>
          </a:solidFill>
          <a:ln w="12700">
            <a:solidFill>
              <a:srgbClr val="2A3A58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7882128" y="3136392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7E0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行动时间表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7882128" y="3520440"/>
            <a:ext cx="3566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3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自动倒排：报名截止 T-26 · 保证金 T-40 · 开标演练 T-41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7635240" y="4389120"/>
            <a:ext cx="4023360" cy="1207008"/>
          </a:xfrm>
          <a:prstGeom prst="roundRect">
            <a:avLst>
              <a:gd name="adj" fmla="val 6818"/>
            </a:avLst>
          </a:prstGeom>
          <a:solidFill>
            <a:srgbClr val="141E30"/>
          </a:solidFill>
          <a:ln w="12700">
            <a:solidFill>
              <a:srgbClr val="2A3A58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882128" y="4553712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7E0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逐条自查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7882128" y="4937760"/>
            <a:ext cx="3566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3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有据/待人工核实双色标注，缺项自动进入补料清单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37E0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CORE BARRIER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91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EF3F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核心壁垒 · 反幻觉铁律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18311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719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417320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7E0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“资料库里没有的，一个字都不编。”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48640" y="2286000"/>
            <a:ext cx="3291840" cy="1371600"/>
          </a:xfrm>
          <a:prstGeom prst="roundRect">
            <a:avLst>
              <a:gd name="adj" fmla="val 6667"/>
            </a:avLst>
          </a:prstGeom>
          <a:solidFill>
            <a:srgbClr val="141E30"/>
          </a:solidFill>
          <a:ln w="19050">
            <a:solidFill>
              <a:srgbClr val="4F8C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2450592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F8C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777240" y="2852928"/>
            <a:ext cx="2880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EF3F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资料库 + 招标公告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EF3F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（唯一信息来源）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3913632" y="2697480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5F719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3000" dirty="0"/>
          </a:p>
        </p:txBody>
      </p:sp>
      <p:sp>
        <p:nvSpPr>
          <p:cNvPr id="10" name="Shape 8"/>
          <p:cNvSpPr/>
          <p:nvPr/>
        </p:nvSpPr>
        <p:spPr>
          <a:xfrm>
            <a:off x="4526280" y="2286000"/>
            <a:ext cx="3291840" cy="1371600"/>
          </a:xfrm>
          <a:prstGeom prst="roundRect">
            <a:avLst>
              <a:gd name="adj" fmla="val 6667"/>
            </a:avLst>
          </a:prstGeom>
          <a:solidFill>
            <a:srgbClr val="141E30"/>
          </a:solidFill>
          <a:ln w="19050">
            <a:solidFill>
              <a:srgbClr val="4F8C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754880" y="2450592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F8C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规则引擎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4754880" y="2852928"/>
            <a:ext cx="2880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EF3F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白名单引用 · 确定性判定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EF3F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16类参数 · 80项测试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7891272" y="2697480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5F719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3000" dirty="0"/>
          </a:p>
        </p:txBody>
      </p:sp>
      <p:sp>
        <p:nvSpPr>
          <p:cNvPr id="14" name="Shape 12"/>
          <p:cNvSpPr/>
          <p:nvPr/>
        </p:nvSpPr>
        <p:spPr>
          <a:xfrm>
            <a:off x="8503920" y="2286000"/>
            <a:ext cx="3291840" cy="1371600"/>
          </a:xfrm>
          <a:prstGeom prst="roundRect">
            <a:avLst>
              <a:gd name="adj" fmla="val 6667"/>
            </a:avLst>
          </a:prstGeom>
          <a:solidFill>
            <a:srgbClr val="141E30"/>
          </a:solidFill>
          <a:ln w="19050">
            <a:solidFill>
              <a:srgbClr val="37E0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732520" y="2450592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7E0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输出协议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8732520" y="2852928"/>
            <a:ext cx="2880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EF3F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缺失信息 → 固定占位符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EF3F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“该信息不在资料库中，请核实”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48640" y="4069080"/>
            <a:ext cx="3291840" cy="1691640"/>
          </a:xfrm>
          <a:prstGeom prst="roundRect">
            <a:avLst>
              <a:gd name="adj" fmla="val 4865"/>
            </a:avLst>
          </a:prstGeom>
          <a:solidFill>
            <a:srgbClr val="141E30"/>
          </a:solidFill>
          <a:ln w="12700">
            <a:solidFill>
              <a:srgbClr val="2A3A5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" y="425196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EF3F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结论可回溯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777240" y="4645152"/>
            <a:ext cx="2880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3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每个判定都能对应到公告原文片段，可审计、可追责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526280" y="4069080"/>
            <a:ext cx="3291840" cy="1691640"/>
          </a:xfrm>
          <a:prstGeom prst="roundRect">
            <a:avLst>
              <a:gd name="adj" fmla="val 4865"/>
            </a:avLst>
          </a:prstGeom>
          <a:solidFill>
            <a:srgbClr val="141E30"/>
          </a:solidFill>
          <a:ln w="12700">
            <a:solidFill>
              <a:srgbClr val="2A3A5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754880" y="425196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EF3F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编造即出局的行业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4754880" y="4645152"/>
            <a:ext cx="2880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3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投标场景里编造参数 = 废标 + 法律责任，通用大模型恰恰爱编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8503920" y="4069080"/>
            <a:ext cx="3291840" cy="1691640"/>
          </a:xfrm>
          <a:prstGeom prst="roundRect">
            <a:avLst>
              <a:gd name="adj" fmla="val 4865"/>
            </a:avLst>
          </a:prstGeom>
          <a:solidFill>
            <a:srgbClr val="141E30"/>
          </a:solidFill>
          <a:ln w="12700">
            <a:solidFill>
              <a:srgbClr val="2A3A5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732520" y="425196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EF3F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双引擎兜底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8732520" y="4645152"/>
            <a:ext cx="2880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3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规则引擎离线可用（投标现场常没网），大模型负责开放式问答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548640" y="60350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3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与“直接问大模型”的本质区别：我们从源头压制幻觉，而不是事后校对幻觉。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37E0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ENGINE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91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EF3F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 类参数 · 可解释判定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18311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719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554480"/>
            <a:ext cx="2514600" cy="1920240"/>
          </a:xfrm>
          <a:prstGeom prst="roundRect">
            <a:avLst>
              <a:gd name="adj" fmla="val 4286"/>
            </a:avLst>
          </a:prstGeom>
          <a:solidFill>
            <a:srgbClr val="141E30"/>
          </a:solidFill>
          <a:ln w="12700">
            <a:solidFill>
              <a:srgbClr val="2A3A5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1691640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4F8C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749808" y="242316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EF3F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类技术参数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49808" y="2761488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3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装载/挖掘/起重/泵送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93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四大机型族全覆盖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246120" y="1554480"/>
            <a:ext cx="2514600" cy="1920240"/>
          </a:xfrm>
          <a:prstGeom prst="roundRect">
            <a:avLst>
              <a:gd name="adj" fmla="val 4286"/>
            </a:avLst>
          </a:prstGeom>
          <a:solidFill>
            <a:srgbClr val="141E30"/>
          </a:solidFill>
          <a:ln w="12700">
            <a:solidFill>
              <a:srgbClr val="2A3A5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447288" y="1691640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37E0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套</a:t>
            </a:r>
            <a:endParaRPr lang="en-US" sz="4000" dirty="0"/>
          </a:p>
        </p:txBody>
      </p:sp>
      <p:sp>
        <p:nvSpPr>
          <p:cNvPr id="11" name="Text 9"/>
          <p:cNvSpPr/>
          <p:nvPr/>
        </p:nvSpPr>
        <p:spPr>
          <a:xfrm>
            <a:off x="3447288" y="242316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EF3F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单位自动换算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3447288" y="2761488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3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mm↔m · 马力↔kW · 吨↔kg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93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口径冲突拒绝瞎换算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48640" y="3657600"/>
            <a:ext cx="2514600" cy="1920240"/>
          </a:xfrm>
          <a:prstGeom prst="roundRect">
            <a:avLst>
              <a:gd name="adj" fmla="val 4286"/>
            </a:avLst>
          </a:prstGeom>
          <a:solidFill>
            <a:srgbClr val="141E30"/>
          </a:solidFill>
          <a:ln w="12700">
            <a:solidFill>
              <a:srgbClr val="2A3A5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49808" y="3794760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B5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★</a:t>
            </a:r>
            <a:endParaRPr lang="en-US" sz="4000" dirty="0"/>
          </a:p>
        </p:txBody>
      </p:sp>
      <p:sp>
        <p:nvSpPr>
          <p:cNvPr id="15" name="Text 13"/>
          <p:cNvSpPr/>
          <p:nvPr/>
        </p:nvSpPr>
        <p:spPr>
          <a:xfrm>
            <a:off x="749808" y="452628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EF3F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关键参数段级定位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749808" y="4864608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3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★参数负偏离 → 直接废标级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93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红色警告 + 评分压制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3246120" y="3657600"/>
            <a:ext cx="2514600" cy="1920240"/>
          </a:xfrm>
          <a:prstGeom prst="roundRect">
            <a:avLst>
              <a:gd name="adj" fmla="val 4286"/>
            </a:avLst>
          </a:prstGeom>
          <a:solidFill>
            <a:srgbClr val="141E30"/>
          </a:solidFill>
          <a:ln w="12700">
            <a:solidFill>
              <a:srgbClr val="2A3A5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447288" y="3794760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FE0A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0–100</a:t>
            </a:r>
            <a:endParaRPr lang="en-US" sz="4000" dirty="0"/>
          </a:p>
        </p:txBody>
      </p:sp>
      <p:sp>
        <p:nvSpPr>
          <p:cNvPr id="19" name="Text 17"/>
          <p:cNvSpPr/>
          <p:nvPr/>
        </p:nvSpPr>
        <p:spPr>
          <a:xfrm>
            <a:off x="3447288" y="452628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EF3F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就绪度评分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3447288" y="4864608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3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权重可配置，脚注随报告输出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93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权重 = 业务价值观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93776" y="5486400"/>
            <a:ext cx="5486400" cy="1005840"/>
          </a:xfrm>
          <a:prstGeom prst="roundRect">
            <a:avLst>
              <a:gd name="adj" fmla="val 8182"/>
            </a:avLst>
          </a:prstGeom>
          <a:solidFill>
            <a:srgbClr val="141E30"/>
          </a:solidFill>
          <a:ln w="12700">
            <a:solidFill>
              <a:srgbClr val="2A3A5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31520" y="5687568"/>
            <a:ext cx="5212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EF3F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115 项自动化测试全绿 · 32类参数 · 7大机型族 · 正例可投/反例敢拒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6172200" y="1554480"/>
            <a:ext cx="5486400" cy="4937760"/>
          </a:xfrm>
          <a:prstGeom prst="roundRect">
            <a:avLst>
              <a:gd name="adj" fmla="val 1667"/>
            </a:avLst>
          </a:prstGeom>
          <a:solidFill>
            <a:srgbClr val="141E30"/>
          </a:solidFill>
          <a:ln w="12700">
            <a:solidFill>
              <a:srgbClr val="2A3A58"/>
            </a:solidFill>
            <a:prstDash val="solid"/>
          </a:ln>
        </p:spPr>
      </p:sp>
      <p:pic>
        <p:nvPicPr>
          <p:cNvPr id="24" name="Image 0" descr="docs/screenshots/3-deviation-tabl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309360" y="1783080"/>
            <a:ext cx="5212080" cy="2926080"/>
          </a:xfrm>
          <a:prstGeom prst="rect">
            <a:avLst/>
          </a:prstGeom>
        </p:spPr>
      </p:pic>
      <p:sp>
        <p:nvSpPr>
          <p:cNvPr id="25" name="Text 22"/>
          <p:cNvSpPr/>
          <p:nvPr/>
        </p:nvSpPr>
        <p:spPr>
          <a:xfrm>
            <a:off x="6355080" y="480060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3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偏离表实拍：★仅标记关键参数 · 6.58m 自动对比 ≥6500mm</a:t>
            </a:r>
            <a:endParaRPr lang="en-US" sz="1150" dirty="0"/>
          </a:p>
        </p:txBody>
      </p:sp>
      <p:sp>
        <p:nvSpPr>
          <p:cNvPr id="26" name="Text 23"/>
          <p:cNvSpPr/>
          <p:nvPr/>
        </p:nvSpPr>
        <p:spPr>
          <a:xfrm>
            <a:off x="6355080" y="598932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7E0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每个判定可回溯原文片段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37E0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DEMO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91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EF3F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演示 · 工具敢于说“不”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18311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719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06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93776" y="1426464"/>
            <a:ext cx="6949440" cy="3986784"/>
          </a:xfrm>
          <a:prstGeom prst="roundRect">
            <a:avLst>
              <a:gd name="adj" fmla="val 2064"/>
            </a:avLst>
          </a:prstGeom>
          <a:solidFill>
            <a:srgbClr val="141E30"/>
          </a:solidFill>
          <a:ln w="12700">
            <a:solidFill>
              <a:srgbClr val="2A3A58"/>
            </a:solidFill>
            <a:prstDash val="solid"/>
          </a:ln>
        </p:spPr>
      </p:sp>
      <p:pic>
        <p:nvPicPr>
          <p:cNvPr id="6" name="Image 0" descr="docs/screenshots/2-conclusion-excavator-kill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481328"/>
            <a:ext cx="6583680" cy="37033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48640" y="5468112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719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挖掘机场景 · 废标判定实拍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7635240" y="160020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B5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★爬坡能力 </a:t>
            </a:r>
            <a:pPr indent="0" marL="0">
              <a:buNone/>
            </a:pPr>
            <a:r>
              <a:rPr lang="en-US" sz="1600" dirty="0">
                <a:solidFill>
                  <a:srgbClr val="EEF3F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65%，不满足招标要求的 ≥70%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7635240" y="2514600"/>
            <a:ext cx="4023360" cy="896112"/>
          </a:xfrm>
          <a:prstGeom prst="roundRect">
            <a:avLst>
              <a:gd name="adj" fmla="val 9184"/>
            </a:avLst>
          </a:prstGeom>
          <a:solidFill>
            <a:srgbClr val="141E30"/>
          </a:solidFill>
          <a:ln w="12700">
            <a:solidFill>
              <a:srgbClr val="2A3A58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845552" y="2788920"/>
            <a:ext cx="329184" cy="329184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11" name="Text 8"/>
          <p:cNvSpPr/>
          <p:nvPr/>
        </p:nvSpPr>
        <p:spPr>
          <a:xfrm>
            <a:off x="7845552" y="27889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122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8321040" y="2624328"/>
            <a:ext cx="3246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EF3F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红色废标警告条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8321040" y="2971800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3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★关键参数负偏离 = 直接否决投标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7635240" y="3566160"/>
            <a:ext cx="4023360" cy="896112"/>
          </a:xfrm>
          <a:prstGeom prst="roundRect">
            <a:avLst>
              <a:gd name="adj" fmla="val 9184"/>
            </a:avLst>
          </a:prstGeom>
          <a:solidFill>
            <a:srgbClr val="141E30"/>
          </a:solidFill>
          <a:ln w="12700">
            <a:solidFill>
              <a:srgbClr val="2A3A58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7845552" y="3840480"/>
            <a:ext cx="329184" cy="329184"/>
          </a:xfrm>
          <a:prstGeom prst="ellipse">
            <a:avLst/>
          </a:prstGeom>
          <a:solidFill>
            <a:srgbClr val="FFB547"/>
          </a:solidFill>
          <a:ln/>
        </p:spPr>
      </p:sp>
      <p:sp>
        <p:nvSpPr>
          <p:cNvPr id="16" name="Text 13"/>
          <p:cNvSpPr/>
          <p:nvPr/>
        </p:nvSpPr>
        <p:spPr>
          <a:xfrm>
            <a:off x="7845552" y="38404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122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8321040" y="3675888"/>
            <a:ext cx="3246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EF3F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评分压至 15 分 / D 级</a:t>
            </a:r>
            <a:endParaRPr lang="en-US" sz="1450" dirty="0"/>
          </a:p>
        </p:txBody>
      </p:sp>
      <p:sp>
        <p:nvSpPr>
          <p:cNvPr id="18" name="Text 15"/>
          <p:cNvSpPr/>
          <p:nvPr/>
        </p:nvSpPr>
        <p:spPr>
          <a:xfrm>
            <a:off x="8321040" y="4023360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3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暂缓投标，非普通扣分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7635240" y="4617720"/>
            <a:ext cx="4023360" cy="896112"/>
          </a:xfrm>
          <a:prstGeom prst="roundRect">
            <a:avLst>
              <a:gd name="adj" fmla="val 9184"/>
            </a:avLst>
          </a:prstGeom>
          <a:solidFill>
            <a:srgbClr val="141E30"/>
          </a:solidFill>
          <a:ln w="12700">
            <a:solidFill>
              <a:srgbClr val="2A3A58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7845552" y="4892040"/>
            <a:ext cx="329184" cy="329184"/>
          </a:xfrm>
          <a:prstGeom prst="ellipse">
            <a:avLst/>
          </a:prstGeom>
          <a:solidFill>
            <a:srgbClr val="4F8CFF"/>
          </a:solidFill>
          <a:ln/>
        </p:spPr>
      </p:sp>
      <p:sp>
        <p:nvSpPr>
          <p:cNvPr id="21" name="Text 18"/>
          <p:cNvSpPr/>
          <p:nvPr/>
        </p:nvSpPr>
        <p:spPr>
          <a:xfrm>
            <a:off x="7845552" y="48920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122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8321040" y="4727448"/>
            <a:ext cx="3246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EF3F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前提第一条</a:t>
            </a:r>
            <a:endParaRPr lang="en-US" sz="1450" dirty="0"/>
          </a:p>
        </p:txBody>
      </p:sp>
      <p:sp>
        <p:nvSpPr>
          <p:cNvPr id="23" name="Text 20"/>
          <p:cNvSpPr/>
          <p:nvPr/>
        </p:nvSpPr>
        <p:spPr>
          <a:xfrm>
            <a:off x="8321040" y="5074920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3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书面澄清或更换机型，否则不投</a:t>
            </a:r>
            <a:endParaRPr lang="en-US" sz="1150" dirty="0"/>
          </a:p>
        </p:txBody>
      </p:sp>
      <p:sp>
        <p:nvSpPr>
          <p:cNvPr id="24" name="Text 21"/>
          <p:cNvSpPr/>
          <p:nvPr/>
        </p:nvSpPr>
        <p:spPr>
          <a:xfrm>
            <a:off x="7635240" y="5806440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7E0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工具的价值不是替你投，而是告诉你什么不能投。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37E0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MARKET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91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EF3F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市场分析 · 示例测算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18311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719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07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3566160" cy="2286000"/>
          </a:xfrm>
          <a:prstGeom prst="roundRect">
            <a:avLst>
              <a:gd name="adj" fmla="val 3600"/>
            </a:avLst>
          </a:prstGeom>
          <a:solidFill>
            <a:srgbClr val="141E30"/>
          </a:solidFill>
          <a:ln w="12700">
            <a:solidFill>
              <a:srgbClr val="2A3A5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04672" y="182880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93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TAM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04672" y="219456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4F8C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 亿/年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804672" y="310896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3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全国 10万+ 工程机械经销商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3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× 年投标 5–20 次 × SaaS 年费均值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343400" y="1600200"/>
            <a:ext cx="3566160" cy="2286000"/>
          </a:xfrm>
          <a:prstGeom prst="roundRect">
            <a:avLst>
              <a:gd name="adj" fmla="val 3600"/>
            </a:avLst>
          </a:prstGeom>
          <a:solidFill>
            <a:srgbClr val="141E30"/>
          </a:solidFill>
          <a:ln w="12700">
            <a:solidFill>
              <a:srgbClr val="2A3A5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99432" y="182880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93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SAM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599432" y="219456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37E0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2.4 亿/年</a:t>
            </a:r>
            <a:endParaRPr lang="en-US" sz="4400" dirty="0"/>
          </a:p>
        </p:txBody>
      </p:sp>
      <p:sp>
        <p:nvSpPr>
          <p:cNvPr id="12" name="Text 10"/>
          <p:cNvSpPr/>
          <p:nvPr/>
        </p:nvSpPr>
        <p:spPr>
          <a:xfrm>
            <a:off x="4599432" y="310896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3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华东区域可服务经销商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3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（首阶段销售覆盖范围）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138160" y="1600200"/>
            <a:ext cx="3566160" cy="2286000"/>
          </a:xfrm>
          <a:prstGeom prst="roundRect">
            <a:avLst>
              <a:gd name="adj" fmla="val 3600"/>
            </a:avLst>
          </a:prstGeom>
          <a:solidFill>
            <a:srgbClr val="141E30"/>
          </a:solidFill>
          <a:ln w="12700">
            <a:solidFill>
              <a:srgbClr val="2A3A5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394192" y="182880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93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SOM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394192" y="219456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2FE0A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30 万/年</a:t>
            </a:r>
            <a:endParaRPr lang="en-US" sz="4400" dirty="0"/>
          </a:p>
        </p:txBody>
      </p:sp>
      <p:sp>
        <p:nvSpPr>
          <p:cNvPr id="16" name="Text 14"/>
          <p:cNvSpPr/>
          <p:nvPr/>
        </p:nvSpPr>
        <p:spPr>
          <a:xfrm>
            <a:off x="8394192" y="310896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3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首年 50 家试点经销商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3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（验证续费率后再放大）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48640" y="4206240"/>
            <a:ext cx="11091672" cy="1554480"/>
          </a:xfrm>
          <a:prstGeom prst="roundRect">
            <a:avLst>
              <a:gd name="adj" fmla="val 5294"/>
            </a:avLst>
          </a:prstGeom>
          <a:solidFill>
            <a:srgbClr val="141E30"/>
          </a:solidFill>
          <a:ln w="12700">
            <a:solidFill>
              <a:srgbClr val="2A3A5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04672" y="43891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200" kern="0" dirty="0">
                <a:solidFill>
                  <a:srgbClr val="37E0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测算口径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804672" y="4736592"/>
            <a:ext cx="10607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EEF3F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付费动因：一次废标损失（保证金 + 机会成本）≈ 数年 SaaS 年费，付费逻辑成立</a:t>
            </a:r>
            <a:endParaRPr lang="en-US" sz="13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EEF3F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获客路径：行业协会与厂商渠道 —— 我们帮厂商的经销商中标，厂商有推荐动力</a:t>
            </a:r>
            <a:endParaRPr lang="en-US" sz="13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EEF3F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扩品路径：装载/挖掘/起重/泵送四类机型已覆盖，规则库横向复制成本低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548640" y="59893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719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以上为示例测算（est.），参赛提交前以中国工程机械工业协会等公开数据核校。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37E0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BUSINESS MODEL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91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EF3F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商业模式 · 三档收费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18311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719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08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77240" y="164592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5F719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客户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3886200" y="164592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5F719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收费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715000" y="164592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5F719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交付内容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0195560" y="164592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5F719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定位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2057400"/>
            <a:ext cx="11091672" cy="1051560"/>
          </a:xfrm>
          <a:prstGeom prst="roundRect">
            <a:avLst>
              <a:gd name="adj" fmla="val 7826"/>
            </a:avLst>
          </a:prstGeom>
          <a:solidFill>
            <a:srgbClr val="141E30"/>
          </a:solidFill>
          <a:ln w="12700">
            <a:solidFill>
              <a:srgbClr val="2A3A5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7240" y="2221992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7E0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经销商 SaaS 席位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3886200" y="2221992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EF3F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年费订阅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5715000" y="2221992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93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网页版 + Coze 智能体 + 规则库更新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10195560" y="2313432"/>
            <a:ext cx="1234440" cy="457200"/>
          </a:xfrm>
          <a:prstGeom prst="roundRect">
            <a:avLst>
              <a:gd name="adj" fmla="val 50000"/>
            </a:avLst>
          </a:prstGeom>
          <a:solidFill>
            <a:srgbClr val="1B2A45"/>
          </a:solidFill>
          <a:ln w="12700">
            <a:solidFill>
              <a:srgbClr val="4F8C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195560" y="2313432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37E0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主力营收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48640" y="3291840"/>
            <a:ext cx="11091672" cy="1051560"/>
          </a:xfrm>
          <a:prstGeom prst="roundRect">
            <a:avLst>
              <a:gd name="adj" fmla="val 7826"/>
            </a:avLst>
          </a:prstGeom>
          <a:solidFill>
            <a:srgbClr val="141E30"/>
          </a:solidFill>
          <a:ln w="12700">
            <a:solidFill>
              <a:srgbClr val="2A3A5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77240" y="3456432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EF3F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小散用户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3886200" y="3456432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EF3F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按次计费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5715000" y="3456432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93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单标分析，低门槛获客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10195560" y="3547872"/>
            <a:ext cx="1234440" cy="457200"/>
          </a:xfrm>
          <a:prstGeom prst="roundRect">
            <a:avLst>
              <a:gd name="adj" fmla="val 50000"/>
            </a:avLst>
          </a:prstGeom>
          <a:solidFill>
            <a:srgbClr val="1B2A45"/>
          </a:solidFill>
          <a:ln w="12700">
            <a:solidFill>
              <a:srgbClr val="4F8C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195560" y="3547872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37E0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获客漏斗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48640" y="4526280"/>
            <a:ext cx="11091672" cy="1051560"/>
          </a:xfrm>
          <a:prstGeom prst="roundRect">
            <a:avLst>
              <a:gd name="adj" fmla="val 7826"/>
            </a:avLst>
          </a:prstGeom>
          <a:solidFill>
            <a:srgbClr val="141E30"/>
          </a:solidFill>
          <a:ln w="12700">
            <a:solidFill>
              <a:srgbClr val="2A3A5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" y="4690872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EF3F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制造商 / 代理机构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3886200" y="4690872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EF3F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项目制定制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5715000" y="4690872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93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私有部署 + 规则库定制 + 培训</a:t>
            </a:r>
            <a:endParaRPr lang="en-US" sz="1350" dirty="0"/>
          </a:p>
        </p:txBody>
      </p:sp>
      <p:sp>
        <p:nvSpPr>
          <p:cNvPr id="25" name="Shape 23"/>
          <p:cNvSpPr/>
          <p:nvPr/>
        </p:nvSpPr>
        <p:spPr>
          <a:xfrm>
            <a:off x="10195560" y="4782312"/>
            <a:ext cx="1234440" cy="457200"/>
          </a:xfrm>
          <a:prstGeom prst="roundRect">
            <a:avLst>
              <a:gd name="adj" fmla="val 50000"/>
            </a:avLst>
          </a:prstGeom>
          <a:solidFill>
            <a:srgbClr val="1B2A45"/>
          </a:solidFill>
          <a:ln w="12700">
            <a:solidFill>
              <a:srgbClr val="4F8C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0195560" y="4782312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37E0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高毛利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548640" y="58064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3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定价★（示例）：席位年费 3,000–8,000 元 · 单次 99–299 元 · 定制项目 5 万起 —— 以试点验证后定价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37E0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COMPETITION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91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EF3F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竞争分析 · 我们赢在规则库与合规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18311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719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09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2176272" cy="566928"/>
          </a:xfrm>
          <a:prstGeom prst="roundRect">
            <a:avLst>
              <a:gd name="adj" fmla="val 12903"/>
            </a:avLst>
          </a:prstGeom>
          <a:solidFill>
            <a:srgbClr val="141E30"/>
          </a:solidFill>
          <a:ln w="12700">
            <a:solidFill>
              <a:srgbClr val="2A3A5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600200"/>
            <a:ext cx="21762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93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维度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2834640" y="1600200"/>
            <a:ext cx="2542032" cy="566928"/>
          </a:xfrm>
          <a:prstGeom prst="roundRect">
            <a:avLst>
              <a:gd name="adj" fmla="val 12903"/>
            </a:avLst>
          </a:prstGeom>
          <a:solidFill>
            <a:srgbClr val="141E30"/>
          </a:solidFill>
          <a:ln w="12700">
            <a:solidFill>
              <a:srgbClr val="2A3A5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834640" y="1600200"/>
            <a:ext cx="25420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93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通用大模型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486400" y="1600200"/>
            <a:ext cx="2542032" cy="566928"/>
          </a:xfrm>
          <a:prstGeom prst="roundRect">
            <a:avLst>
              <a:gd name="adj" fmla="val 12903"/>
            </a:avLst>
          </a:prstGeom>
          <a:solidFill>
            <a:srgbClr val="141E30"/>
          </a:solidFill>
          <a:ln w="12700">
            <a:solidFill>
              <a:srgbClr val="2A3A5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0" y="1600200"/>
            <a:ext cx="25420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93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传统标书软件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8138160" y="1600200"/>
            <a:ext cx="3182112" cy="566928"/>
          </a:xfrm>
          <a:prstGeom prst="roundRect">
            <a:avLst>
              <a:gd name="adj" fmla="val 12903"/>
            </a:avLst>
          </a:prstGeom>
          <a:solidFill>
            <a:srgbClr val="4F8CFF"/>
          </a:solidFill>
          <a:ln w="12700">
            <a:solidFill>
              <a:srgbClr val="2A3A5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138160" y="1600200"/>
            <a:ext cx="3182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标书快反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48640" y="2331720"/>
            <a:ext cx="2176272" cy="786384"/>
          </a:xfrm>
          <a:prstGeom prst="roundRect">
            <a:avLst>
              <a:gd name="adj" fmla="val 9302"/>
            </a:avLst>
          </a:prstGeom>
          <a:solidFill>
            <a:srgbClr val="141E30"/>
          </a:solidFill>
          <a:ln w="12700">
            <a:solidFill>
              <a:srgbClr val="2A3A5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58368" y="2331720"/>
            <a:ext cx="195681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EF3F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反幻觉合规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2834640" y="2331720"/>
            <a:ext cx="2542032" cy="786384"/>
          </a:xfrm>
          <a:prstGeom prst="roundRect">
            <a:avLst>
              <a:gd name="adj" fmla="val 9302"/>
            </a:avLst>
          </a:prstGeom>
          <a:solidFill>
            <a:srgbClr val="141E30"/>
          </a:solidFill>
          <a:ln w="12700">
            <a:solidFill>
              <a:srgbClr val="2A3A5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944368" y="2331720"/>
            <a:ext cx="232257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会编造参数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486400" y="2331720"/>
            <a:ext cx="2542032" cy="786384"/>
          </a:xfrm>
          <a:prstGeom prst="roundRect">
            <a:avLst>
              <a:gd name="adj" fmla="val 9302"/>
            </a:avLst>
          </a:prstGeom>
          <a:solidFill>
            <a:srgbClr val="141E30"/>
          </a:solidFill>
          <a:ln w="12700">
            <a:solidFill>
              <a:srgbClr val="2A3A5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596128" y="2331720"/>
            <a:ext cx="232257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模板无判定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8138160" y="2331720"/>
            <a:ext cx="3182112" cy="786384"/>
          </a:xfrm>
          <a:prstGeom prst="roundRect">
            <a:avLst>
              <a:gd name="adj" fmla="val 9302"/>
            </a:avLst>
          </a:prstGeom>
          <a:solidFill>
            <a:srgbClr val="16233C"/>
          </a:solidFill>
          <a:ln w="12700">
            <a:solidFill>
              <a:srgbClr val="4F8C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247888" y="2331720"/>
            <a:ext cx="296265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7E0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白名单协议+占位符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48640" y="3264408"/>
            <a:ext cx="2176272" cy="786384"/>
          </a:xfrm>
          <a:prstGeom prst="roundRect">
            <a:avLst>
              <a:gd name="adj" fmla="val 9302"/>
            </a:avLst>
          </a:prstGeom>
          <a:solidFill>
            <a:srgbClr val="141E30"/>
          </a:solidFill>
          <a:ln w="12700">
            <a:solidFill>
              <a:srgbClr val="2A3A5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58368" y="3264408"/>
            <a:ext cx="195681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EF3F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偏离判定规则库</a:t>
            </a:r>
            <a:endParaRPr lang="en-US" sz="1350" dirty="0"/>
          </a:p>
        </p:txBody>
      </p:sp>
      <p:sp>
        <p:nvSpPr>
          <p:cNvPr id="23" name="Shape 21"/>
          <p:cNvSpPr/>
          <p:nvPr/>
        </p:nvSpPr>
        <p:spPr>
          <a:xfrm>
            <a:off x="2834640" y="3264408"/>
            <a:ext cx="2542032" cy="786384"/>
          </a:xfrm>
          <a:prstGeom prst="roundRect">
            <a:avLst>
              <a:gd name="adj" fmla="val 9302"/>
            </a:avLst>
          </a:prstGeom>
          <a:solidFill>
            <a:srgbClr val="141E30"/>
          </a:solidFill>
          <a:ln w="12700">
            <a:solidFill>
              <a:srgbClr val="2A3A5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944368" y="3264408"/>
            <a:ext cx="232257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无行业规则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5486400" y="3264408"/>
            <a:ext cx="2542032" cy="786384"/>
          </a:xfrm>
          <a:prstGeom prst="roundRect">
            <a:avLst>
              <a:gd name="adj" fmla="val 9302"/>
            </a:avLst>
          </a:prstGeom>
          <a:solidFill>
            <a:srgbClr val="141E30"/>
          </a:solidFill>
          <a:ln w="12700">
            <a:solidFill>
              <a:srgbClr val="2A3A5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596128" y="3264408"/>
            <a:ext cx="232257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无智能判定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8138160" y="3264408"/>
            <a:ext cx="3182112" cy="786384"/>
          </a:xfrm>
          <a:prstGeom prst="roundRect">
            <a:avLst>
              <a:gd name="adj" fmla="val 9302"/>
            </a:avLst>
          </a:prstGeom>
          <a:solidFill>
            <a:srgbClr val="16233C"/>
          </a:solidFill>
          <a:ln w="12700">
            <a:solidFill>
              <a:srgbClr val="4F8C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247888" y="3264408"/>
            <a:ext cx="296265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7E0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16类参数·上下限语义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548640" y="4197096"/>
            <a:ext cx="2176272" cy="786384"/>
          </a:xfrm>
          <a:prstGeom prst="roundRect">
            <a:avLst>
              <a:gd name="adj" fmla="val 9302"/>
            </a:avLst>
          </a:prstGeom>
          <a:solidFill>
            <a:srgbClr val="141E30"/>
          </a:solidFill>
          <a:ln w="12700">
            <a:solidFill>
              <a:srgbClr val="2A3A5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58368" y="4197096"/>
            <a:ext cx="195681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EF3F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结论可审计</a:t>
            </a:r>
            <a:endParaRPr lang="en-US" sz="1350" dirty="0"/>
          </a:p>
        </p:txBody>
      </p:sp>
      <p:sp>
        <p:nvSpPr>
          <p:cNvPr id="31" name="Shape 29"/>
          <p:cNvSpPr/>
          <p:nvPr/>
        </p:nvSpPr>
        <p:spPr>
          <a:xfrm>
            <a:off x="2834640" y="4197096"/>
            <a:ext cx="2542032" cy="786384"/>
          </a:xfrm>
          <a:prstGeom prst="roundRect">
            <a:avLst>
              <a:gd name="adj" fmla="val 9302"/>
            </a:avLst>
          </a:prstGeom>
          <a:solidFill>
            <a:srgbClr val="141E30"/>
          </a:solidFill>
          <a:ln w="12700">
            <a:solidFill>
              <a:srgbClr val="2A3A5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944368" y="4197096"/>
            <a:ext cx="232257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黑盒输出</a:t>
            </a: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5486400" y="4197096"/>
            <a:ext cx="2542032" cy="786384"/>
          </a:xfrm>
          <a:prstGeom prst="roundRect">
            <a:avLst>
              <a:gd name="adj" fmla="val 9302"/>
            </a:avLst>
          </a:prstGeom>
          <a:solidFill>
            <a:srgbClr val="141E30"/>
          </a:solidFill>
          <a:ln w="12700">
            <a:solidFill>
              <a:srgbClr val="2A3A58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596128" y="4197096"/>
            <a:ext cx="232257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不可追溯</a:t>
            </a:r>
            <a:endParaRPr lang="en-US" sz="1250" dirty="0"/>
          </a:p>
        </p:txBody>
      </p:sp>
      <p:sp>
        <p:nvSpPr>
          <p:cNvPr id="35" name="Shape 33"/>
          <p:cNvSpPr/>
          <p:nvPr/>
        </p:nvSpPr>
        <p:spPr>
          <a:xfrm>
            <a:off x="8138160" y="4197096"/>
            <a:ext cx="3182112" cy="786384"/>
          </a:xfrm>
          <a:prstGeom prst="roundRect">
            <a:avLst>
              <a:gd name="adj" fmla="val 9302"/>
            </a:avLst>
          </a:prstGeom>
          <a:solidFill>
            <a:srgbClr val="16233C"/>
          </a:solidFill>
          <a:ln w="12700">
            <a:solidFill>
              <a:srgbClr val="4F8C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247888" y="4197096"/>
            <a:ext cx="296265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7E0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逐条对应原文片段</a:t>
            </a:r>
            <a:endParaRPr lang="en-US" sz="1250" dirty="0"/>
          </a:p>
        </p:txBody>
      </p:sp>
      <p:sp>
        <p:nvSpPr>
          <p:cNvPr id="37" name="Shape 35"/>
          <p:cNvSpPr/>
          <p:nvPr/>
        </p:nvSpPr>
        <p:spPr>
          <a:xfrm>
            <a:off x="548640" y="5129784"/>
            <a:ext cx="2176272" cy="786384"/>
          </a:xfrm>
          <a:prstGeom prst="roundRect">
            <a:avLst>
              <a:gd name="adj" fmla="val 9302"/>
            </a:avLst>
          </a:prstGeom>
          <a:solidFill>
            <a:srgbClr val="141E30"/>
          </a:solidFill>
          <a:ln w="12700">
            <a:solidFill>
              <a:srgbClr val="2A3A5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58368" y="5129784"/>
            <a:ext cx="195681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EF3F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离线可用</a:t>
            </a:r>
            <a:endParaRPr lang="en-US" sz="1350" dirty="0"/>
          </a:p>
        </p:txBody>
      </p:sp>
      <p:sp>
        <p:nvSpPr>
          <p:cNvPr id="39" name="Shape 37"/>
          <p:cNvSpPr/>
          <p:nvPr/>
        </p:nvSpPr>
        <p:spPr>
          <a:xfrm>
            <a:off x="2834640" y="5129784"/>
            <a:ext cx="2542032" cy="786384"/>
          </a:xfrm>
          <a:prstGeom prst="roundRect">
            <a:avLst>
              <a:gd name="adj" fmla="val 9302"/>
            </a:avLst>
          </a:prstGeom>
          <a:solidFill>
            <a:srgbClr val="141E30"/>
          </a:solidFill>
          <a:ln w="12700">
            <a:solidFill>
              <a:srgbClr val="2A3A58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944368" y="5129784"/>
            <a:ext cx="232257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需联网</a:t>
            </a:r>
            <a:endParaRPr lang="en-US" sz="1250" dirty="0"/>
          </a:p>
        </p:txBody>
      </p:sp>
      <p:sp>
        <p:nvSpPr>
          <p:cNvPr id="41" name="Shape 39"/>
          <p:cNvSpPr/>
          <p:nvPr/>
        </p:nvSpPr>
        <p:spPr>
          <a:xfrm>
            <a:off x="5486400" y="5129784"/>
            <a:ext cx="2542032" cy="786384"/>
          </a:xfrm>
          <a:prstGeom prst="roundRect">
            <a:avLst>
              <a:gd name="adj" fmla="val 9302"/>
            </a:avLst>
          </a:prstGeom>
          <a:solidFill>
            <a:srgbClr val="141E30"/>
          </a:solidFill>
          <a:ln w="12700">
            <a:solidFill>
              <a:srgbClr val="2A3A5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596128" y="5129784"/>
            <a:ext cx="232257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可离线</a:t>
            </a:r>
            <a:endParaRPr lang="en-US" sz="1250" dirty="0"/>
          </a:p>
        </p:txBody>
      </p:sp>
      <p:sp>
        <p:nvSpPr>
          <p:cNvPr id="43" name="Shape 41"/>
          <p:cNvSpPr/>
          <p:nvPr/>
        </p:nvSpPr>
        <p:spPr>
          <a:xfrm>
            <a:off x="8138160" y="5129784"/>
            <a:ext cx="3182112" cy="786384"/>
          </a:xfrm>
          <a:prstGeom prst="roundRect">
            <a:avLst>
              <a:gd name="adj" fmla="val 9302"/>
            </a:avLst>
          </a:prstGeom>
          <a:solidFill>
            <a:srgbClr val="16233C"/>
          </a:solidFill>
          <a:ln w="12700">
            <a:solidFill>
              <a:srgbClr val="4F8CFF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8247888" y="5129784"/>
            <a:ext cx="296265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7E0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规则引擎离线运行</a:t>
            </a:r>
            <a:endParaRPr lang="en-US" sz="1250" dirty="0"/>
          </a:p>
        </p:txBody>
      </p:sp>
      <p:sp>
        <p:nvSpPr>
          <p:cNvPr id="45" name="Text 43"/>
          <p:cNvSpPr/>
          <p:nvPr/>
        </p:nvSpPr>
        <p:spPr>
          <a:xfrm>
            <a:off x="548640" y="61264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7E0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护城河 = 工程机械投标规则库（人工拆解积累）+ 反幻觉协议（合规刚需），大厂看不见、小厂抄不走。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37E0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TEAM &amp; ROADMAP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91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EF3F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团队与进度 · AI 原生开发方法论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18311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719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554480"/>
            <a:ext cx="5120640" cy="987552"/>
          </a:xfrm>
          <a:prstGeom prst="roundRect">
            <a:avLst>
              <a:gd name="adj" fmla="val 8333"/>
            </a:avLst>
          </a:prstGeom>
          <a:solidFill>
            <a:srgbClr val="141E30"/>
          </a:solidFill>
          <a:ln w="12700">
            <a:solidFill>
              <a:srgbClr val="2A3A5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682496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EEF3F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队长 · 国际经济与贸易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777240" y="2066544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3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产品定义 / 商业模式 / 市场分析与答辩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2724912"/>
            <a:ext cx="5120640" cy="987552"/>
          </a:xfrm>
          <a:prstGeom prst="roundRect">
            <a:avLst>
              <a:gd name="adj" fmla="val 8333"/>
            </a:avLst>
          </a:prstGeom>
          <a:solidFill>
            <a:srgbClr val="141E30"/>
          </a:solidFill>
          <a:ln w="12700">
            <a:solidFill>
              <a:srgbClr val="2A3A5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2852928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EEF3F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队员 A</a:t>
            </a:r>
            <a:endParaRPr lang="en-US" sz="1550" dirty="0"/>
          </a:p>
        </p:txBody>
      </p:sp>
      <p:sp>
        <p:nvSpPr>
          <p:cNvPr id="10" name="Text 8"/>
          <p:cNvSpPr/>
          <p:nvPr/>
        </p:nvSpPr>
        <p:spPr>
          <a:xfrm>
            <a:off x="777240" y="3236976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3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材料生产 / 演示录屏 / 数据整理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48640" y="3895344"/>
            <a:ext cx="5120640" cy="987552"/>
          </a:xfrm>
          <a:prstGeom prst="roundRect">
            <a:avLst>
              <a:gd name="adj" fmla="val 8333"/>
            </a:avLst>
          </a:prstGeom>
          <a:solidFill>
            <a:srgbClr val="141E30"/>
          </a:solidFill>
          <a:ln w="12700">
            <a:solidFill>
              <a:srgbClr val="2A3A5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7240" y="402336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EEF3F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队员 B</a:t>
            </a:r>
            <a:endParaRPr lang="en-US" sz="1550" dirty="0"/>
          </a:p>
        </p:txBody>
      </p:sp>
      <p:sp>
        <p:nvSpPr>
          <p:cNvPr id="13" name="Text 11"/>
          <p:cNvSpPr/>
          <p:nvPr/>
        </p:nvSpPr>
        <p:spPr>
          <a:xfrm>
            <a:off x="777240" y="4407408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3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客户访谈 / 答辩陈述 / 试点对接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5120640"/>
            <a:ext cx="5120640" cy="1097280"/>
          </a:xfrm>
          <a:prstGeom prst="roundRect">
            <a:avLst>
              <a:gd name="adj" fmla="val 7500"/>
            </a:avLst>
          </a:prstGeom>
          <a:solidFill>
            <a:srgbClr val="141E30"/>
          </a:solidFill>
          <a:ln w="12700">
            <a:solidFill>
              <a:srgbClr val="2A3A5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77240" y="5285232"/>
            <a:ext cx="4663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7E0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原生开发：</a:t>
            </a:r>
            <a:pPr indent="0" marL="0">
              <a:buNone/>
            </a:pPr>
            <a:r>
              <a:rPr lang="en-US" sz="1250" dirty="0">
                <a:solidFill>
                  <a:srgbClr val="93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两周交付传统团队一个月的活；80 项自动化测试 = 业务理解的固化，不写一行多余代码。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126480" y="1554480"/>
            <a:ext cx="5532120" cy="1371600"/>
          </a:xfrm>
          <a:prstGeom prst="roundRect">
            <a:avLst>
              <a:gd name="adj" fmla="val 6000"/>
            </a:avLst>
          </a:prstGeom>
          <a:solidFill>
            <a:srgbClr val="141E30"/>
          </a:solidFill>
          <a:ln w="12700">
            <a:solidFill>
              <a:srgbClr val="2A3A5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382512" y="1773936"/>
            <a:ext cx="201168" cy="201168"/>
          </a:xfrm>
          <a:prstGeom prst="ellipse">
            <a:avLst/>
          </a:prstGeom>
          <a:solidFill>
            <a:srgbClr val="2FE0A2"/>
          </a:solidFill>
          <a:ln/>
        </p:spPr>
      </p:sp>
      <p:sp>
        <p:nvSpPr>
          <p:cNvPr id="18" name="Shape 16"/>
          <p:cNvSpPr/>
          <p:nvPr/>
        </p:nvSpPr>
        <p:spPr>
          <a:xfrm>
            <a:off x="6483096" y="2011680"/>
            <a:ext cx="0" cy="1133856"/>
          </a:xfrm>
          <a:prstGeom prst="line">
            <a:avLst/>
          </a:prstGeom>
          <a:noFill/>
          <a:ln w="19050">
            <a:solidFill>
              <a:srgbClr val="2A3A5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720840" y="1682496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FE0A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已完成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6720840" y="2066544"/>
            <a:ext cx="4709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3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v1.0–v1.7 可运行产品：四大输出 / 32类参数7大机型 / ★▲双级风控 / 公告变更检测 / 自定义词库 / 115项测试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126480" y="3127248"/>
            <a:ext cx="5532120" cy="1371600"/>
          </a:xfrm>
          <a:prstGeom prst="roundRect">
            <a:avLst>
              <a:gd name="adj" fmla="val 6000"/>
            </a:avLst>
          </a:prstGeom>
          <a:solidFill>
            <a:srgbClr val="141E30"/>
          </a:solidFill>
          <a:ln w="12700">
            <a:solidFill>
              <a:srgbClr val="2A3A5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382512" y="3346704"/>
            <a:ext cx="201168" cy="201168"/>
          </a:xfrm>
          <a:prstGeom prst="ellipse">
            <a:avLst/>
          </a:prstGeom>
          <a:solidFill>
            <a:srgbClr val="4F8CFF"/>
          </a:solidFill>
          <a:ln/>
        </p:spPr>
      </p:sp>
      <p:sp>
        <p:nvSpPr>
          <p:cNvPr id="23" name="Shape 21"/>
          <p:cNvSpPr/>
          <p:nvPr/>
        </p:nvSpPr>
        <p:spPr>
          <a:xfrm>
            <a:off x="6483096" y="3584448"/>
            <a:ext cx="0" cy="1133856"/>
          </a:xfrm>
          <a:prstGeom prst="line">
            <a:avLst/>
          </a:prstGeom>
          <a:noFill/>
          <a:ln w="19050">
            <a:solidFill>
              <a:srgbClr val="2A3A5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720840" y="3255264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F8C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30 天内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6720840" y="3639312"/>
            <a:ext cx="4709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3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3–5 家经销商试点 · 50 份真实标书扩充规则库 · 续费率验证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6126480" y="4700016"/>
            <a:ext cx="5532120" cy="1371600"/>
          </a:xfrm>
          <a:prstGeom prst="roundRect">
            <a:avLst>
              <a:gd name="adj" fmla="val 6000"/>
            </a:avLst>
          </a:prstGeom>
          <a:solidFill>
            <a:srgbClr val="141E30"/>
          </a:solidFill>
          <a:ln w="12700">
            <a:solidFill>
              <a:srgbClr val="2A3A58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382512" y="4919472"/>
            <a:ext cx="201168" cy="201168"/>
          </a:xfrm>
          <a:prstGeom prst="ellipse">
            <a:avLst/>
          </a:prstGeom>
          <a:solidFill>
            <a:srgbClr val="37E0FF"/>
          </a:solidFill>
          <a:ln/>
        </p:spPr>
      </p:sp>
      <p:sp>
        <p:nvSpPr>
          <p:cNvPr id="28" name="Text 26"/>
          <p:cNvSpPr/>
          <p:nvPr/>
        </p:nvSpPr>
        <p:spPr>
          <a:xfrm>
            <a:off x="6720840" y="4828032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7E0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90 天内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6720840" y="5212080"/>
            <a:ext cx="4709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3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Coze 公开版上线 · 客户交互智能体（工程机械外贸询盘，衔接国贸专业）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554480"/>
            <a:ext cx="105156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EEF3F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 2–3 天的标书活儿</a:t>
            </a:r>
            <a:endParaRPr lang="en-US" sz="4800" dirty="0"/>
          </a:p>
          <a:p>
            <a:pPr indent="0" marL="0">
              <a:buNone/>
            </a:pPr>
            <a:r>
              <a:rPr lang="en-US" sz="4800" b="1" dirty="0">
                <a:solidFill>
                  <a:srgbClr val="EEF3F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压缩到 10 秒。</a:t>
            </a:r>
            <a:endParaRPr lang="en-US" sz="4800" dirty="0"/>
          </a:p>
        </p:txBody>
      </p:sp>
      <p:sp>
        <p:nvSpPr>
          <p:cNvPr id="3" name="Text 1"/>
          <p:cNvSpPr/>
          <p:nvPr/>
        </p:nvSpPr>
        <p:spPr>
          <a:xfrm>
            <a:off x="548640" y="3749040"/>
            <a:ext cx="9144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7E0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反幻觉 · 可回溯 · 双引擎 · 敢说不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548640" y="512064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93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标书快反 BidPilot — 工程机械投标文件 AI 智能体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5F719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GitHub / 在线演示：参赛后补充链接 · 官方咨询：4001109999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6291072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719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演示数据均为虚构 · AI 辅助分析不能替代人工复核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标书快反 BidPilot · 路演</dc:title>
  <dc:subject>PptxGenJS Presentation</dc:subject>
  <dc:creator>标书快反团队</dc:creator>
  <cp:lastModifiedBy>标书快反团队</cp:lastModifiedBy>
  <cp:revision>1</cp:revision>
  <dcterms:created xsi:type="dcterms:W3CDTF">2026-09-09T03:36:49Z</dcterms:created>
  <dcterms:modified xsi:type="dcterms:W3CDTF">2026-09-09T03:36:49Z</dcterms:modified>
</cp:coreProperties>
</file>