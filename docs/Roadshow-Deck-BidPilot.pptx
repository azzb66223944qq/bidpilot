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开场30秒：一句话定位——工程机械经销商的投标AI助手。强调右边评分环是产品真实界面元素。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痛点讲完立刻抛转折句：这些坑，机器比人记得牢。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强调'一个字都不编'——引出下一页反幻觉设计。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指着速览卡说：这些数字全部从公告原文自动提取，不是手填。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这是答辩防守核心页：评委问'和ChatGPT有什么区别'就翻这页。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左边四张卡按顺序讲，落到右边截图的★与单位换算两处细节。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这页讲'敢说不'：输出红条+15分的组合，评委立刻理解★规则的分量。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强调数字是示例口径，答辩时展示测算框架而非编造精确数。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定价是示例区间，答辩话术：先验证续费率，再锁价。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承认大模型能力强，但强调投标场景的第一约束是'不能编'。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进度页诚实：已完成的是可用产品，未完成的是试点——正是参赛要拿资源去做的事。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收尾回到第一句话，形成闭环。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第十五届中国创新创业大赛「AI+工程机械」专业赛 · AI+运营方向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BidPilot</a:t>
            </a:r>
            <a:pPr indent="0" marL="0">
              <a:buNone/>
            </a:pPr>
            <a:r>
              <a:rPr lang="en-US" sz="2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工程机械投标文件 AI 智能体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把投标标书处理从 2–3 天压缩到 10 秒：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技术偏离表 · 废标风险 TOP5 · 就绪度评分，一次生成。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反幻觉引擎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62072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62072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双引擎架构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75504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140 项测试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88936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类参数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802368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02368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/>
          </a:solidFill>
          <a:ln w="1270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>
              <a:alpha val="0"/>
            </a:srgbClr>
          </a:solidFill>
          <a:ln w="127000">
            <a:solidFill>
              <a:srgbClr val="37E0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854964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演示场景就绪度评分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内置演示数据均为虚构 · 正式投标必须人工逐条复核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工程机械投标的三重痛点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3063240" y="2606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一次投标，人工读公告、做偏离表、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查废标条款的典型耗时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800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而漏看一条的代价：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保证金没收 + 订单旁落 + 信用受损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846320" y="1691640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8928" y="20848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3892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规则复杂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2295144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32类参数、★▲条款、解密时限、保证金规则——漏一条即出局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3172968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38928" y="356616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52160" y="33741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废标频发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377647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★参数不满足、授权书漏盖章、保证金晚到账：每一项都是一票否决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654296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38928" y="5047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5047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52160" y="48554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经验难传承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852160" y="525780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老师傅的避坑清单存在脑子里，新人每次都要重交学费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注：耗时为行业访谈估计（示例数据，参赛前以调研数据替换）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秒生成四份投标必备成果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trike="sngStrike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天</a:t>
            </a:r>
            <a:pPr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贴入资料库与招标公告，四份成果一次成型；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资料库里没有的信息，一个字都不编。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4023360" cy="2011680"/>
          </a:xfrm>
          <a:prstGeom prst="roundRect">
            <a:avLst>
              <a:gd name="adj" fmla="val 409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四大输出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315968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能投/缺什么/待核实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技术偏离表 · 逐条满足/正/负偏离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废标风险 TOP5 · 白话避坑提醒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结论与评分 · 就绪度 0–100 + 前提清单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85232" y="16824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85232" y="20116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本公司资料库（资质/业绩/设备参数） + 招标公告整段粘贴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058400" y="2514600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029200" y="2688336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85232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3145536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单位换算 · ★▲条款定位 · 变更检测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058400" y="3648456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029200" y="3822192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39502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85232" y="4279392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满足/正偏离/负偏离 · 上下限语义区分 · 跨口径冲突不瞎换算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82312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029200" y="4956048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85232" y="508406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85232" y="54132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MD/HTML/PDF报告 · 补料清单 · 公告对比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产品实拍 · 资格自查与行动时间表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1-qual-lo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资格自查页 · 产品实拍（演示数据为虚构）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635240" y="155448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17190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张速览卡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82128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限价 / 保证金 / 解密时限 / 报名与开标时间 / 审查方式，一屏速览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35240" y="297180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82128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行动时间表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882128" y="35204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自动倒排：报名截止 T-26 · 保证金 T-40 · 开标演练 T-41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438912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82128" y="4553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逐条自查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882128" y="4937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有据/待人工核实双色标注，缺项自动进入补料清单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BARRIER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核心壁垒 · 反幻觉铁律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“资料库里没有的，一个字都不编。”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 + 招标公告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（唯一信息来源）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1363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白名单引用 · 确定性判定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140项测试 · 审计日志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89127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50392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37E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输出协议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73252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缺失信息 → 固定占位符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“该信息不在资料库中，请核实”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结论可回溯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每个判定都能对应到公告原文片段，可审计、可追责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2628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编造即出局的行业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投标场景里编造参数 = 废标 + 法律责任，通用大模型恰恰爱编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0392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3252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双引擎兜底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规则引擎离线可用（投标现场常没网），大模型负责开放式问答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与“直接问大模型”的本质区别：我们从源头压制幻觉，而不是事后校对幻觉。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类参数 · 7 大机型族 · 可解释判定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类技术参数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装载/挖掘/起重/泵送/道路/环卫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七大机型族全覆盖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套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4728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单位自动换算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4728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mm↔m · 马力↔kW · 吨↔kg · L↔m³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口径冲突拒绝瞎换算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★▲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4980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双级条款风控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4980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★负偏离→废标级 · ▲负偏离→评分复核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原文批注视图：风险在原文上发光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4728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44728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就绪度评分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44728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权重可配置，脚注随报告输出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= 业务价值观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3776" y="5486400"/>
            <a:ext cx="5486400" cy="1005840"/>
          </a:xfrm>
          <a:prstGeom prst="roundRect">
            <a:avLst>
              <a:gd name="adj" fmla="val 818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687568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140 项自动化测试全绿：正例可投 · 反例敢拒 · 乱输入不崩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200" y="1554480"/>
            <a:ext cx="5486400" cy="4937760"/>
          </a:xfrm>
          <a:prstGeom prst="roundRect">
            <a:avLst>
              <a:gd name="adj" fmla="val 1667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24" name="Image 0" descr="docs/screenshots/3-deviation-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783080"/>
            <a:ext cx="5212080" cy="292608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355080" y="4800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偏离表实拍：★精准定位 · 6.58m 自动对比 ≥6500mm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355080" y="5989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每个判定可回溯原文片段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 · 工具敢于说“不”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2-conclusion-excavator-ki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挖掘机场景 · 废标判定实拍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635240" y="1600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★爬坡能力 </a:t>
            </a:r>
            <a:pPr indent="0" marL="0"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65%，不满足招标要求的 ≥70%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35240" y="251460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845552" y="2788920"/>
            <a:ext cx="329184" cy="32918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Text 8"/>
          <p:cNvSpPr/>
          <p:nvPr/>
        </p:nvSpPr>
        <p:spPr>
          <a:xfrm>
            <a:off x="7845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321040" y="2624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红色废标警告条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29718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★关键参数负偏离 = 直接否决投标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56616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45552" y="3840480"/>
            <a:ext cx="329184" cy="329184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6" name="Text 13"/>
          <p:cNvSpPr/>
          <p:nvPr/>
        </p:nvSpPr>
        <p:spPr>
          <a:xfrm>
            <a:off x="7845552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21040" y="36758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评分压至 15 分 / D 级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8321040" y="4023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暂缓投标，非普通扣分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461772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45552" y="4892040"/>
            <a:ext cx="329184" cy="329184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1" name="Text 18"/>
          <p:cNvSpPr/>
          <p:nvPr/>
        </p:nvSpPr>
        <p:spPr>
          <a:xfrm>
            <a:off x="7845552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47274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前提第一条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321040" y="5074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书面澄清或更换机型，否则不投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35240" y="5806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工具的价值不是替你投，而是告诉你什么不能投。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 · 示例测算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亿/年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0467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 10万+ 工程机械经销商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年投标 5–20 次 × SaaS 年费均值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亿/年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华东区域可服务经销商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（首阶段销售覆盖范围）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9419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万/年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 50 家试点经销商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（验证续费率后再放大）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91672" cy="1554480"/>
          </a:xfrm>
          <a:prstGeom prst="roundRect">
            <a:avLst>
              <a:gd name="adj" fmla="val 529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测算口径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73659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付费动因：一次废标损失（保证金 + 机会成本）≈ 数年 SaaS 年费，付费逻辑成立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获客路径：行业协会与厂商渠道 —— 我们帮厂商的经销商中标，厂商有推荐动力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扩品路径：七大机型族已覆盖，规则库横向复制成本低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以上为示例测算（est.），参赛提交前以中国工程机械工业协会等公开数据核校。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 · 三档收费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1500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1955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219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经销商 SaaS 席位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86200" y="22219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年费订阅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15000" y="2221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网页版 + Coze 智能体 + 规则库更新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195560" y="231343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95560" y="23134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主力营收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56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小散用户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886200" y="34564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按次计费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15000" y="34564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单标分析，低门槛获客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195560" y="354787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95560" y="35478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获客漏斗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690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制造商 / 代理机构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469087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项目制定制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15000" y="4690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私有部署 + 规则库定制 + 培训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195560" y="478231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47823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高毛利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定价★（示例）：席位年费 3,000–8,000 元 · 单次 99–299 元 · 定制项目 5 万起 —— 以试点验证后定价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竞争分析 · 我们赢在规则库与合规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17627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3464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通用大模型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传统标书软件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182112" cy="566928"/>
          </a:xfrm>
          <a:prstGeom prst="roundRect">
            <a:avLst>
              <a:gd name="adj" fmla="val 12903"/>
            </a:avLst>
          </a:prstGeom>
          <a:solidFill>
            <a:srgbClr val="4F8CFF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6002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31720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反幻觉合规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83464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436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会编造参数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9612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模板无判定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38160" y="2331720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7888" y="2331720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白名单协议+占位符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264408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64408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偏离判定规则库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283464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4436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无行业规则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无智能判定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38160" y="3264408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3264408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32类参数·上下限语义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97096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结论可审计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283464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4436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黑盒输出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不可追溯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138160" y="4197096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47888" y="4197096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逐条对应原文片段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129784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12978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离线可用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283464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4436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需联网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可离线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138160" y="5129784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47888" y="5129784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规则引擎离线运行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护城河 = 工程机械投标规则库（人工拆解积累）+ 反幻觉协议（合规刚需），大厂看不见、小厂抄不走。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团队与进度 · AI 原生开发方法论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队长 · 国际经济与贸易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产品定义 / 商业模式 / 市场分析与答辩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77240" y="32369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材料生产 / 演示录屏 / 数据整理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95344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B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77240" y="44074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客户访谈 / 答辩陈述 / 试点对接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28523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原生开发：</a:t>
            </a:r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两周交付传统团队一个月的活；140 项自动化测试 + CI徽章 + 审计日志 = 严谨看得见。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1773936"/>
            <a:ext cx="201168" cy="201168"/>
          </a:xfrm>
          <a:prstGeom prst="ellipse">
            <a:avLst/>
          </a:prstGeom>
          <a:solidFill>
            <a:srgbClr val="2FE0A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3096" y="2011680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206654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v1.0–v2.1.1 可运行产品：四大输出 / 32类参数7大机型 / ★▲风控 / 原文批注 / 置信度 / 审计日志 / 140项测试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3127248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46704"/>
            <a:ext cx="201168" cy="201168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83096" y="3584448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2552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天内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20840" y="36393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3–5 家经销商试点 · 50 份真实标书扩充规则库 · 续费率验证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4700016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82512" y="4919472"/>
            <a:ext cx="201168" cy="201168"/>
          </a:xfrm>
          <a:prstGeom prst="ellipse">
            <a:avLst/>
          </a:prstGeom>
          <a:solidFill>
            <a:srgbClr val="37E0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4828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天内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20840" y="52120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Coze 公开版上线 · 客户交互智能体（工程机械外贸询盘，衔接国贸专业）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2–3 天的标书活儿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压缩到 10 秒。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3749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 · 可回溯 · 双引擎 · 敢说不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 BidPilot — 工程机械投标文件 AI 智能体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在线演示：https://azzb66223944qq.github.io/bidpilot/ · 官方咨询：4001109999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演示数据均为虚构 · AI 辅助分析不能替代人工复核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标书快反 BidPilot · 路演</dc:title>
  <dc:subject>PptxGenJS Presentation</dc:subject>
  <dc:creator>标书快反团队</dc:creator>
  <cp:lastModifiedBy>标书快反团队</cp:lastModifiedBy>
  <cp:revision>1</cp:revision>
  <dcterms:created xsi:type="dcterms:W3CDTF">2026-09-14T04:29:06Z</dcterms:created>
  <dcterms:modified xsi:type="dcterms:W3CDTF">2026-09-14T04:29:06Z</dcterms:modified>
</cp:coreProperties>
</file>