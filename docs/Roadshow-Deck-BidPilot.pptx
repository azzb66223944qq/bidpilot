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开场30秒：一句话定位——工程机械经销商的投标AI助手。强调右边评分环是产品真实界面元素。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痛点讲完立刻抛转折句：这些坑，机器比人记得牢。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强调'一个字都不编'——引出下一页反幻觉设计。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指着速览卡说：这些数字全部从公告原文自动提取，不是手填。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这是答辩防守核心页：评委问'和ChatGPT有什么区别'就翻这页。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左边四张卡按顺序讲，落到右边截图的★与单位换算两处细节。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这页讲'敢说不'：输出红条+15分的组合，评委立刻理解★规则的分量。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强调数字是示例口径，答辩时展示测算框架而非编造精确数。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定价是示例区间，答辩话术：先验证续费率，再锁价。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承认大模型能力强，但强调投标场景的第一约束是'不能编'。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进度页诚实：已完成的是可用产品，未完成的是试点——正是参赛要拿资源去做的事。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收尾回到第一句话，形成闭环。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第十五届中国创新创业大赛「AI+工程机械」专业赛 · AI+运营方向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标书快反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BidPilot</a:t>
            </a:r>
            <a:pPr indent="0" marL="0">
              <a:buNone/>
            </a:pPr>
            <a:r>
              <a:rPr lang="en-US" sz="26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工程机械投标文件 AI 智能体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把投标标书处理从 2–3 天压缩到 10 秒：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资格自查 · 技术偏离表 · 废标风险 TOP5 · 就绪度评分，一次生成。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2084832" cy="457200"/>
          </a:xfrm>
          <a:prstGeom prst="roundRect">
            <a:avLst>
              <a:gd name="adj" fmla="val 50000"/>
            </a:avLst>
          </a:prstGeom>
          <a:solidFill>
            <a:srgbClr val="141E30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7091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反幻觉引擎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62072" y="4709160"/>
            <a:ext cx="2084832" cy="457200"/>
          </a:xfrm>
          <a:prstGeom prst="roundRect">
            <a:avLst>
              <a:gd name="adj" fmla="val 50000"/>
            </a:avLst>
          </a:prstGeom>
          <a:solidFill>
            <a:srgbClr val="141E30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47091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双引擎架构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75504" y="4709160"/>
            <a:ext cx="2084832" cy="457200"/>
          </a:xfrm>
          <a:prstGeom prst="roundRect">
            <a:avLst>
              <a:gd name="adj" fmla="val 50000"/>
            </a:avLst>
          </a:prstGeom>
          <a:solidFill>
            <a:srgbClr val="141E30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5504" y="47091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167 项测试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88936" y="4709160"/>
            <a:ext cx="2084832" cy="457200"/>
          </a:xfrm>
          <a:prstGeom prst="roundRect">
            <a:avLst>
              <a:gd name="adj" fmla="val 50000"/>
            </a:avLst>
          </a:prstGeom>
          <a:solidFill>
            <a:srgbClr val="141E30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88936" y="47091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类参数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802368" y="4709160"/>
            <a:ext cx="2084832" cy="457200"/>
          </a:xfrm>
          <a:prstGeom prst="roundRect">
            <a:avLst>
              <a:gd name="adj" fmla="val 50000"/>
            </a:avLst>
          </a:prstGeom>
          <a:solidFill>
            <a:srgbClr val="141E30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02368" y="47091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v3.0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49640" y="1554480"/>
            <a:ext cx="2834640" cy="2834640"/>
          </a:xfrm>
          <a:prstGeom prst="ellipse">
            <a:avLst/>
          </a:prstGeom>
          <a:solidFill>
            <a:srgbClr val="0B1220"/>
          </a:solidFill>
          <a:ln w="127000">
            <a:solidFill>
              <a:srgbClr val="2A3A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1554480"/>
            <a:ext cx="2834640" cy="2834640"/>
          </a:xfrm>
          <a:prstGeom prst="ellipse">
            <a:avLst/>
          </a:prstGeom>
          <a:solidFill>
            <a:srgbClr val="0B1220">
              <a:alpha val="0"/>
            </a:srgbClr>
          </a:solidFill>
          <a:ln w="127000">
            <a:solidFill>
              <a:srgbClr val="37E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2331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FE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94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8549640" y="3246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演示场景就绪度评分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2910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内置演示数据均为虚构 · 正式投标必须人工逐条复核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工程机械投标的三重痛点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2–3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3063240" y="2606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一次投标，人工读公告、做偏离表、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查废标条款的典型耗时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3749040" cy="1371600"/>
          </a:xfrm>
          <a:prstGeom prst="roundRect">
            <a:avLst>
              <a:gd name="adj" fmla="val 6000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800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而漏看一条的代价：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保证金没收 + 订单旁落 + 信用受损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6766560" cy="1261872"/>
          </a:xfrm>
          <a:prstGeom prst="roundRect">
            <a:avLst>
              <a:gd name="adj" fmla="val 652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848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F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5138928" y="20848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0" y="18928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规则复杂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52160" y="2295144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32类参数、★▲条款、解密时限、保证金规则——漏一条即出局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172968"/>
            <a:ext cx="6766560" cy="1261872"/>
          </a:xfrm>
          <a:prstGeom prst="roundRect">
            <a:avLst>
              <a:gd name="adj" fmla="val 652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38928" y="356616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5138928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52160" y="33741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废标频发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52160" y="3776472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★参数不满足、授权书漏盖章、保证金晚到账：每一项都是一票否决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4654296"/>
            <a:ext cx="6766560" cy="1261872"/>
          </a:xfrm>
          <a:prstGeom prst="roundRect">
            <a:avLst>
              <a:gd name="adj" fmla="val 652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38928" y="504748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F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5138928" y="5047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52160" y="48554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经验难传承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852160" y="5257800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老师傅的避坑清单存在脑子里，新人每次都要重交学费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注：耗时为行业访谈估计（示例数据，参赛前以调研数据替换）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秒生成四份投标必备成果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trike="sngStrike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2–3 天</a:t>
            </a:r>
            <a:pPr indent="0" marL="0">
              <a:buNone/>
            </a:pPr>
            <a:r>
              <a:rPr lang="en-US" sz="30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 </a:t>
            </a:r>
            <a:pPr indent="0" marL="0">
              <a:buNone/>
            </a:pPr>
            <a:r>
              <a:rPr lang="en-US" sz="440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秒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贴入资料库与招标公告，四份成果一次成型；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资料库里没有的信息，一个字都不编。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4023360" cy="2011680"/>
          </a:xfrm>
          <a:prstGeom prst="roundRect">
            <a:avLst>
              <a:gd name="adj" fmla="val 4091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四大输出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31596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资格自查 · 能投/缺什么/待核实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技术偏离表 · 逐条满足/正/负偏离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废标风险 TOP5 · 白话避坑提醒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结论与评分 · 就绪度 0–100 + 前提清单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55448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5232" y="16824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85232" y="201168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本公司资料库（资质/业绩/设备参数） + 招标公告整段粘贴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058400" y="2514600"/>
            <a:ext cx="0" cy="173736"/>
          </a:xfrm>
          <a:prstGeom prst="line">
            <a:avLst/>
          </a:prstGeom>
          <a:noFill/>
          <a:ln w="19050">
            <a:solidFill>
              <a:srgbClr val="5F719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029200" y="2688336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28163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85232" y="3145536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32类参数 · 单位换算 · ★▲条款定位 · 变更检测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058400" y="3648456"/>
            <a:ext cx="0" cy="173736"/>
          </a:xfrm>
          <a:prstGeom prst="line">
            <a:avLst/>
          </a:prstGeom>
          <a:noFill/>
          <a:ln w="19050">
            <a:solidFill>
              <a:srgbClr val="5F7195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029200" y="3822192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3950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85232" y="427939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满足/正偏离/负偏离 · 上下限语义区分 · 跨口径冲突不瞎换算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058400" y="4782312"/>
            <a:ext cx="0" cy="173736"/>
          </a:xfrm>
          <a:prstGeom prst="line">
            <a:avLst/>
          </a:prstGeom>
          <a:noFill/>
          <a:ln w="19050">
            <a:solidFill>
              <a:srgbClr val="5F7195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029200" y="4956048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5084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85232" y="54132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MD/HTML/PDF报告 · 补料清单 · 公告对比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产品实拍 · 资格自查与行动时间表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3776" y="1426464"/>
            <a:ext cx="6949440" cy="3986784"/>
          </a:xfrm>
          <a:prstGeom prst="roundRect">
            <a:avLst>
              <a:gd name="adj" fmla="val 2064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pic>
        <p:nvPicPr>
          <p:cNvPr id="6" name="Image 0" descr="docs/screenshots/1-qual-loa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81328"/>
            <a:ext cx="658368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4681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资格自查页 · 产品实拍（演示数据为虚构）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35240" y="1554480"/>
            <a:ext cx="4023360" cy="1207008"/>
          </a:xfrm>
          <a:prstGeom prst="roundRect">
            <a:avLst>
              <a:gd name="adj" fmla="val 6818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82128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张速览卡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82128" y="21031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限价 / 保证金 / 解密时限 / 报名与开标时间 / 审查方式，一屏速览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35240" y="2971800"/>
            <a:ext cx="4023360" cy="1207008"/>
          </a:xfrm>
          <a:prstGeom prst="roundRect">
            <a:avLst>
              <a:gd name="adj" fmla="val 6818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82128" y="3136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行动时间表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882128" y="35204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自动倒排：报名截止 T-26 · 保证金 T-40 · 开标演练 T-41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35240" y="4389120"/>
            <a:ext cx="4023360" cy="1207008"/>
          </a:xfrm>
          <a:prstGeom prst="roundRect">
            <a:avLst>
              <a:gd name="adj" fmla="val 6818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82128" y="45537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逐条自查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882128" y="49377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有据/待人工核实双色标注，缺项自动进入补料清单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BARRIER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核心壁垒 · 反幻觉铁律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“资料库里没有的，一个字都不编。”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41E30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8529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资料库 + 招标公告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（唯一信息来源）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13632" y="2697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26280" y="22860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41E30"/>
          </a:solidFill>
          <a:ln w="19050">
            <a:solidFill>
              <a:srgbClr val="4F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54880" y="28529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白名单引用 · 确定性判定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32类参数 · 167项测试 · 判例引用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91272" y="2697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503920" y="228600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141E30"/>
          </a:solidFill>
          <a:ln w="19050">
            <a:solidFill>
              <a:srgbClr val="37E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输出协议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732520" y="28529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缺失信息 → 固定占位符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“该信息不在资料库中，请核实”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3291840" cy="1691640"/>
          </a:xfrm>
          <a:prstGeom prst="roundRect">
            <a:avLst>
              <a:gd name="adj" fmla="val 4865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51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结论可回溯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64515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每个判定都能对应到公告原文片段，可审计、可追责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4069080"/>
            <a:ext cx="3291840" cy="1691640"/>
          </a:xfrm>
          <a:prstGeom prst="roundRect">
            <a:avLst>
              <a:gd name="adj" fmla="val 4865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4251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编造即出局的行业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464515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投标场景里编造参数 = 废标 + 法律责任，通用大模型恰恰爱编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503920" y="4069080"/>
            <a:ext cx="3291840" cy="1691640"/>
          </a:xfrm>
          <a:prstGeom prst="roundRect">
            <a:avLst>
              <a:gd name="adj" fmla="val 4865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2520" y="4251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双引擎兜底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32520" y="464515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规则引擎离线可用（投标现场常没网），大模型负责开放式问答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与“直接问大模型”的本质区别：我们从源头压制幻觉，而不是事后校对幻觉。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 类参数 · 7 大机型族 · 可解释判定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类技术参数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7614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装载/挖掘/起重/泵送/道路/环卫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七大机型族全覆盖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套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47288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单位自动换算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47288" y="276148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mm↔m · 马力↔kW · 吨↔kg · L↔m³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口径冲突拒绝瞎换算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794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B5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★▲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49808" y="4526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双级条款风控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49808" y="48646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★负偏离→废标级 · ▲负偏离→评分复核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原文批注视图：风险在原文上发光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36576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3794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E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0–100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447288" y="4526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就绪度评分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47288" y="486460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权重可配置，脚注随报告输出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 = 业务价值观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3776" y="5486400"/>
            <a:ext cx="5486400" cy="1005840"/>
          </a:xfrm>
          <a:prstGeom prst="roundRect">
            <a:avLst>
              <a:gd name="adj" fmla="val 818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68756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167 项自动化测试全绿：正例可投 · 反例敢拒 · 乱输入不崩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200" y="1554480"/>
            <a:ext cx="5486400" cy="4937760"/>
          </a:xfrm>
          <a:prstGeom prst="roundRect">
            <a:avLst>
              <a:gd name="adj" fmla="val 1667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pic>
        <p:nvPicPr>
          <p:cNvPr id="24" name="Image 0" descr="docs/screenshots/3-deviation-tab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783080"/>
            <a:ext cx="5212080" cy="29260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355080" y="4800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偏离表实拍：★精准定位 · 6.58m 自动对比 ≥6500mm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355080" y="5989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每个判定可回溯原文片段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 · 工具敢于说“不”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3776" y="1426464"/>
            <a:ext cx="6949440" cy="3986784"/>
          </a:xfrm>
          <a:prstGeom prst="roundRect">
            <a:avLst>
              <a:gd name="adj" fmla="val 2064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pic>
        <p:nvPicPr>
          <p:cNvPr id="6" name="Image 0" descr="docs/screenshots/2-conclusion-excavator-ki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81328"/>
            <a:ext cx="658368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4681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挖掘机场景 · 废标判定实拍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35240" y="1600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5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★爬坡能力 </a:t>
            </a:r>
            <a:pPr indent="0" marL="0">
              <a:buNone/>
            </a:pPr>
            <a:r>
              <a:rPr lang="en-US" sz="160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65%，不满足招标要求的 ≥70%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35240" y="2514600"/>
            <a:ext cx="4023360" cy="896112"/>
          </a:xfrm>
          <a:prstGeom prst="roundRect">
            <a:avLst>
              <a:gd name="adj" fmla="val 9184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45552" y="2788920"/>
            <a:ext cx="329184" cy="3291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Text 8"/>
          <p:cNvSpPr/>
          <p:nvPr/>
        </p:nvSpPr>
        <p:spPr>
          <a:xfrm>
            <a:off x="7845552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321040" y="26243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红色废标警告条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321040" y="2971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★关键参数负偏离 = 直接否决投标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35240" y="3566160"/>
            <a:ext cx="4023360" cy="896112"/>
          </a:xfrm>
          <a:prstGeom prst="roundRect">
            <a:avLst>
              <a:gd name="adj" fmla="val 9184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45552" y="3840480"/>
            <a:ext cx="329184" cy="329184"/>
          </a:xfrm>
          <a:prstGeom prst="ellipse">
            <a:avLst/>
          </a:prstGeom>
          <a:solidFill>
            <a:srgbClr val="FFB547"/>
          </a:solidFill>
          <a:ln/>
        </p:spPr>
      </p:sp>
      <p:sp>
        <p:nvSpPr>
          <p:cNvPr id="16" name="Text 13"/>
          <p:cNvSpPr/>
          <p:nvPr/>
        </p:nvSpPr>
        <p:spPr>
          <a:xfrm>
            <a:off x="7845552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21040" y="36758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评分压至 15 分 / D 级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321040" y="40233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暂缓投标，非普通扣分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635240" y="4617720"/>
            <a:ext cx="4023360" cy="896112"/>
          </a:xfrm>
          <a:prstGeom prst="roundRect">
            <a:avLst>
              <a:gd name="adj" fmla="val 9184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45552" y="4892040"/>
            <a:ext cx="329184" cy="329184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21" name="Text 18"/>
          <p:cNvSpPr/>
          <p:nvPr/>
        </p:nvSpPr>
        <p:spPr>
          <a:xfrm>
            <a:off x="7845552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321040" y="47274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前提第一条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321040" y="50749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书面澄清或更换机型，否则不投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635240" y="5806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工具的价值不是替你投，而是告诉你什么不能投。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市场分析 · 示例测算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194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F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亿/年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04672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 10万+ 工程机械经销商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年投标 5–20 次 × SaaS 年费均值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2194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 亿/年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99432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华东区域可服务经销商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（首阶段销售覆盖范围）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94192" y="2194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E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万/年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394192" y="3108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首年 50 家试点经销商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（验证续费率后再放大）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91672" cy="1554480"/>
          </a:xfrm>
          <a:prstGeom prst="roundRect">
            <a:avLst>
              <a:gd name="adj" fmla="val 5294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测算口径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4736592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付费动因：一次废标损失（保证金 + 机会成本）≈ 数年 SaaS 年费，付费逻辑成立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获客路径：行业协会与厂商渠道 —— 我们帮厂商的经销商中标，厂商有推荐动力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扩品路径：七大机型族已覆盖，规则库横向复制成本低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以上为示例测算（est.），参赛提交前以中国工程机械工业协会等公开数据核校。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 · 三档收费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8620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0" y="1645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交付内容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9556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219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经销商 SaaS 席位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886200" y="2221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年费订阅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15000" y="2221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网页版 + Coze 智能体 + 规则库更新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195560" y="2313432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95560" y="23134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主力营收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564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小散用户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886200" y="34564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按次计费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715000" y="34564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单标分析，低门槛获客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195560" y="3547872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95560" y="35478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获客漏斗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6908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制造商 / 代理机构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886200" y="4690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项目制定制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715000" y="46908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私有部署 + 规则库定制 + 培训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195560" y="4782312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B2A45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95560" y="47823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高毛利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定价★（示例）：席位年费 3,000–8,000 元 · 单次 99–299 元 · 定制项目 5 万起 —— 以试点验证后定价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竞争分析 · 我们赢在规则库与合规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176272" cy="566928"/>
          </a:xfrm>
          <a:prstGeom prst="roundRect">
            <a:avLst>
              <a:gd name="adj" fmla="val 12903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34640" y="1600200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60020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通用大模型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0" y="1600200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600200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传统标书软件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182112" cy="566928"/>
          </a:xfrm>
          <a:prstGeom prst="roundRect">
            <a:avLst>
              <a:gd name="adj" fmla="val 12903"/>
            </a:avLst>
          </a:prstGeom>
          <a:solidFill>
            <a:srgbClr val="4F8CFF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600200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标书快反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2176272" cy="786384"/>
          </a:xfrm>
          <a:prstGeom prst="roundRect">
            <a:avLst>
              <a:gd name="adj" fmla="val 930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331720"/>
            <a:ext cx="19568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反幻觉合规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834640" y="2331720"/>
            <a:ext cx="2542032" cy="786384"/>
          </a:xfrm>
          <a:prstGeom prst="roundRect">
            <a:avLst>
              <a:gd name="adj" fmla="val 930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2331720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会编造参数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0" y="2331720"/>
            <a:ext cx="2542032" cy="786384"/>
          </a:xfrm>
          <a:prstGeom prst="roundRect">
            <a:avLst>
              <a:gd name="adj" fmla="val 930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6128" y="2331720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模板无判定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2331720"/>
            <a:ext cx="3182112" cy="786384"/>
          </a:xfrm>
          <a:prstGeom prst="roundRect">
            <a:avLst>
              <a:gd name="adj" fmla="val 9302"/>
            </a:avLst>
          </a:prstGeom>
          <a:solidFill>
            <a:srgbClr val="16233C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2331720"/>
            <a:ext cx="29626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白名单协议+占位符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264408"/>
            <a:ext cx="2176272" cy="786384"/>
          </a:xfrm>
          <a:prstGeom prst="roundRect">
            <a:avLst>
              <a:gd name="adj" fmla="val 930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264408"/>
            <a:ext cx="19568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偏离判定规则库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2834640" y="3264408"/>
            <a:ext cx="2542032" cy="786384"/>
          </a:xfrm>
          <a:prstGeom prst="roundRect">
            <a:avLst>
              <a:gd name="adj" fmla="val 930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44368" y="3264408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无行业规则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0" y="3264408"/>
            <a:ext cx="2542032" cy="786384"/>
          </a:xfrm>
          <a:prstGeom prst="roundRect">
            <a:avLst>
              <a:gd name="adj" fmla="val 930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6128" y="3264408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无智能判定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38160" y="3264408"/>
            <a:ext cx="3182112" cy="786384"/>
          </a:xfrm>
          <a:prstGeom prst="roundRect">
            <a:avLst>
              <a:gd name="adj" fmla="val 9302"/>
            </a:avLst>
          </a:prstGeom>
          <a:solidFill>
            <a:srgbClr val="16233C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3264408"/>
            <a:ext cx="29626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32类参数·上下限语义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197096"/>
            <a:ext cx="2176272" cy="786384"/>
          </a:xfrm>
          <a:prstGeom prst="roundRect">
            <a:avLst>
              <a:gd name="adj" fmla="val 930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197096"/>
            <a:ext cx="19568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结论可审计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2834640" y="4197096"/>
            <a:ext cx="2542032" cy="786384"/>
          </a:xfrm>
          <a:prstGeom prst="roundRect">
            <a:avLst>
              <a:gd name="adj" fmla="val 930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44368" y="4197096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黑盒输出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0" y="4197096"/>
            <a:ext cx="2542032" cy="786384"/>
          </a:xfrm>
          <a:prstGeom prst="roundRect">
            <a:avLst>
              <a:gd name="adj" fmla="val 930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4197096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不可追溯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38160" y="4197096"/>
            <a:ext cx="3182112" cy="786384"/>
          </a:xfrm>
          <a:prstGeom prst="roundRect">
            <a:avLst>
              <a:gd name="adj" fmla="val 9302"/>
            </a:avLst>
          </a:prstGeom>
          <a:solidFill>
            <a:srgbClr val="16233C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47888" y="4197096"/>
            <a:ext cx="29626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逐条对应原文片段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5129784"/>
            <a:ext cx="2176272" cy="786384"/>
          </a:xfrm>
          <a:prstGeom prst="roundRect">
            <a:avLst>
              <a:gd name="adj" fmla="val 930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5129784"/>
            <a:ext cx="19568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离线可用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2834640" y="5129784"/>
            <a:ext cx="2542032" cy="786384"/>
          </a:xfrm>
          <a:prstGeom prst="roundRect">
            <a:avLst>
              <a:gd name="adj" fmla="val 930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44368" y="5129784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需联网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486400" y="5129784"/>
            <a:ext cx="2542032" cy="786384"/>
          </a:xfrm>
          <a:prstGeom prst="roundRect">
            <a:avLst>
              <a:gd name="adj" fmla="val 9302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96128" y="5129784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可离线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138160" y="5129784"/>
            <a:ext cx="3182112" cy="786384"/>
          </a:xfrm>
          <a:prstGeom prst="roundRect">
            <a:avLst>
              <a:gd name="adj" fmla="val 9302"/>
            </a:avLst>
          </a:prstGeom>
          <a:solidFill>
            <a:srgbClr val="16233C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47888" y="5129784"/>
            <a:ext cx="29626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规则引擎离线运行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护城河 = 工程机械投标规则库（人工拆解积累）+ 反幻觉协议（合规刚需），大厂看不见、小厂抄不走。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团队与进度 · AI 原生开发方法论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18311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120640" cy="987552"/>
          </a:xfrm>
          <a:prstGeom prst="roundRect">
            <a:avLst>
              <a:gd name="adj" fmla="val 8333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824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队长 · 国际经济与贸易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0665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产品定义 / 商业模式 / 市场分析与答辩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5120640" cy="987552"/>
          </a:xfrm>
          <a:prstGeom prst="roundRect">
            <a:avLst>
              <a:gd name="adj" fmla="val 8333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52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队员 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32369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材料生产 / 演示录屏 / 数据整理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95344"/>
            <a:ext cx="5120640" cy="987552"/>
          </a:xfrm>
          <a:prstGeom prst="roundRect">
            <a:avLst>
              <a:gd name="adj" fmla="val 8333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队员 B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77240" y="44074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客户访谈 / 答辩陈述 / 试点对接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5120640" cy="1097280"/>
          </a:xfrm>
          <a:prstGeom prst="roundRect">
            <a:avLst>
              <a:gd name="adj" fmla="val 7500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28523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原生开发：</a:t>
            </a:r>
            <a:pPr indent="0" marL="0">
              <a:buNone/>
            </a:pPr>
            <a:r>
              <a:rPr lang="en-US" sz="125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两周交付传统团队一个月的活；167 项自动化测试 + CI徽章 + 审计日志 = 严谨看得见。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82512" y="1773936"/>
            <a:ext cx="201168" cy="201168"/>
          </a:xfrm>
          <a:prstGeom prst="ellipse">
            <a:avLst/>
          </a:prstGeom>
          <a:solidFill>
            <a:srgbClr val="2FE0A2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3096" y="2011680"/>
            <a:ext cx="0" cy="1133856"/>
          </a:xfrm>
          <a:prstGeom prst="line">
            <a:avLst/>
          </a:prstGeom>
          <a:noFill/>
          <a:ln w="19050">
            <a:solidFill>
              <a:srgbClr val="2A3A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6824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E0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206654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v1.0–v3.0 可运行产品：四大输出 / 32类参数 / ★▲风控 / 判例风控 / 商机雷达 / 审计日志 / 167项测试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127248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3346704"/>
            <a:ext cx="201168" cy="201168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483096" y="3584448"/>
            <a:ext cx="0" cy="1133856"/>
          </a:xfrm>
          <a:prstGeom prst="line">
            <a:avLst/>
          </a:prstGeom>
          <a:noFill/>
          <a:ln w="19050">
            <a:solidFill>
              <a:srgbClr val="2A3A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32552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20840" y="363931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3–5 家经销商试点 · 50 份真实标书扩充规则库 · 续费率验证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4700016"/>
            <a:ext cx="5532120" cy="1371600"/>
          </a:xfrm>
          <a:prstGeom prst="roundRect">
            <a:avLst>
              <a:gd name="adj" fmla="val 6000"/>
            </a:avLst>
          </a:prstGeom>
          <a:solidFill>
            <a:srgbClr val="141E30"/>
          </a:solidFill>
          <a:ln w="12700">
            <a:solidFill>
              <a:srgbClr val="2A3A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82512" y="4919472"/>
            <a:ext cx="201168" cy="201168"/>
          </a:xfrm>
          <a:prstGeom prst="ellipse">
            <a:avLst/>
          </a:prstGeom>
          <a:solidFill>
            <a:srgbClr val="37E0FF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48280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天内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20840" y="52120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Coze 公开版上线 · 客户交互智能体（工程机械外贸询盘，衔接国贸专业）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2–3 天的标书活儿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EEF3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压缩到 10 秒。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E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反幻觉 · 可回溯 · 双引擎 · 敢说不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5120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93A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标书快反 BidPilot — 工程机械投标文件 AI 智能体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在线演示：https://azzb66223944qq.github.io/bidpilot/ · 官方咨询：4001109999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2910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演示数据均为虚构 · AI 辅助分析不能替代人工复核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标书快反 BidPilot · 路演</dc:title>
  <dc:subject>PptxGenJS Presentation</dc:subject>
  <dc:creator>标书快反团队</dc:creator>
  <cp:lastModifiedBy>标书快反团队</cp:lastModifiedBy>
  <cp:revision>1</cp:revision>
  <dcterms:created xsi:type="dcterms:W3CDTF">2026-09-19T06:34:01Z</dcterms:created>
  <dcterms:modified xsi:type="dcterms:W3CDTF">2026-09-19T06:34:01Z</dcterms:modified>
</cp:coreProperties>
</file>